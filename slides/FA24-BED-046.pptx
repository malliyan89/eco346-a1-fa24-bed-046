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1027"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ED064A-707A-4B4D-9314-C21163F5059B}" type="datetimeFigureOut">
              <a:rPr lang="en-PK" smtClean="0"/>
              <a:t>26/10/2026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17D443-F693-413D-B0FD-0B0A9BFF7ADA}" type="slidenum">
              <a:rPr lang="en-PK" smtClean="0"/>
              <a:t>‹#›</a:t>
            </a:fld>
            <a:endParaRPr lang="en-PK"/>
          </a:p>
        </p:txBody>
      </p:sp>
    </p:spTree>
    <p:extLst>
      <p:ext uri="{BB962C8B-B14F-4D97-AF65-F5344CB8AC3E}">
        <p14:creationId xmlns:p14="http://schemas.microsoft.com/office/powerpoint/2010/main" val="375702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am FA24-BED-046, Section B. My variant is 6: Balochistan rural, which means prov_code 4 and urban_rural 1. The sample is 8,463 persons in 1,505 households. The literacy sample is 5,677 persons aged 10 to 64, and the education-spending sample is 1,464 students. Every estimate is weighted by hhweight. The repository contains the data, the scripts, the SVG figures, the band table, and this deck; run_all.R rebuilds everything offline.</a:t>
            </a:r>
            <a:endParaRPr lang="en-PK"/>
          </a:p>
        </p:txBody>
      </p:sp>
      <p:sp>
        <p:nvSpPr>
          <p:cNvPr id="4" name="Slide Number Placeholder 3"/>
          <p:cNvSpPr>
            <a:spLocks noGrp="1"/>
          </p:cNvSpPr>
          <p:nvPr>
            <p:ph type="sldNum" sz="quarter" idx="5"/>
          </p:nvPr>
        </p:nvSpPr>
        <p:spPr/>
        <p:txBody>
          <a:bodyPr/>
          <a:lstStyle/>
          <a:p>
            <a:fld id="{5217D443-F693-413D-B0FD-0B0A9BFF7ADA}" type="slidenum">
              <a:rPr lang="en-PK" smtClean="0"/>
              <a:t>1</a:t>
            </a:fld>
            <a:endParaRPr lang="en-PK"/>
          </a:p>
        </p:txBody>
      </p:sp>
    </p:spTree>
    <p:extLst>
      <p:ext uri="{BB962C8B-B14F-4D97-AF65-F5344CB8AC3E}">
        <p14:creationId xmlns:p14="http://schemas.microsoft.com/office/powerpoint/2010/main" val="3631444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default is exactly ggplot of literate on age plus geom_point. It plots 5,677 zeros and ones, so the points overplot and we cannot see the conditional mean. The redesign replaces them with weighted literacy rates by five-year age band and sex. Position on a common scale is the strongest perceptual channel, colour separates the two series, and the series are labelled directly so there is no legend lookup. The largest gap is annotated. What the default still shows, and the redesign hides, is the full individual-level spread: the raw zeros and ones and the exact age distribution.</a:t>
            </a:r>
            <a:endParaRPr lang="en-PK"/>
          </a:p>
        </p:txBody>
      </p:sp>
      <p:sp>
        <p:nvSpPr>
          <p:cNvPr id="4" name="Slide Number Placeholder 3"/>
          <p:cNvSpPr>
            <a:spLocks noGrp="1"/>
          </p:cNvSpPr>
          <p:nvPr>
            <p:ph type="sldNum" sz="quarter" idx="5"/>
          </p:nvPr>
        </p:nvSpPr>
        <p:spPr/>
        <p:txBody>
          <a:bodyPr/>
          <a:lstStyle/>
          <a:p>
            <a:fld id="{5217D443-F693-413D-B0FD-0B0A9BFF7ADA}" type="slidenum">
              <a:rPr lang="en-PK" smtClean="0"/>
              <a:t>2</a:t>
            </a:fld>
            <a:endParaRPr lang="en-PK"/>
          </a:p>
        </p:txBody>
      </p:sp>
    </p:spTree>
    <p:extLst>
      <p:ext uri="{BB962C8B-B14F-4D97-AF65-F5344CB8AC3E}">
        <p14:creationId xmlns:p14="http://schemas.microsoft.com/office/powerpoint/2010/main" val="2067871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finding I would emphasise is the gender gap. At ages 15 to 19, 33.3 percent of women are literate against 63.8 percent of men. At 55 to 59 the rates are 3.5 and 39.7 percent. The gap is widest at 40 to 44, where men are at 55.4 percent and women at 7.5 percent, a difference of 47.9 percentage points. This is consistent with cohort effects, but a single cross-section cannot separate age from cohort, and it cannot tell us whether women lose literacy as they age.</a:t>
            </a:r>
            <a:endParaRPr lang="en-PK"/>
          </a:p>
        </p:txBody>
      </p:sp>
      <p:sp>
        <p:nvSpPr>
          <p:cNvPr id="4" name="Slide Number Placeholder 3"/>
          <p:cNvSpPr>
            <a:spLocks noGrp="1"/>
          </p:cNvSpPr>
          <p:nvPr>
            <p:ph type="sldNum" sz="quarter" idx="5"/>
          </p:nvPr>
        </p:nvSpPr>
        <p:spPr/>
        <p:txBody>
          <a:bodyPr/>
          <a:lstStyle/>
          <a:p>
            <a:fld id="{5217D443-F693-413D-B0FD-0B0A9BFF7ADA}" type="slidenum">
              <a:rPr lang="en-PK" smtClean="0"/>
              <a:t>3</a:t>
            </a:fld>
            <a:endParaRPr lang="en-PK"/>
          </a:p>
        </p:txBody>
      </p:sp>
    </p:spTree>
    <p:extLst>
      <p:ext uri="{BB962C8B-B14F-4D97-AF65-F5344CB8AC3E}">
        <p14:creationId xmlns:p14="http://schemas.microsoft.com/office/powerpoint/2010/main" val="1195439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the second language I used Python. It reads the same local CSVs, applies the same variant filter and age bands, and computes the same weighted means. The band tables agree to one decimal, and the maximum absolute difference before rounding is zero. The main default I had to override was the vertical axis: matplotlib autoscaled to the data, so I fixed it at 0 to 100 to match R. The whole repository rebuilds with Rscript scripts/run_all.R, with no internet. The spending figure gives the other headline: the weighted median is Rs 3,500 and the 90th percentile is 31 times the 10th.</a:t>
            </a:r>
            <a:endParaRPr lang="en-PK"/>
          </a:p>
        </p:txBody>
      </p:sp>
      <p:sp>
        <p:nvSpPr>
          <p:cNvPr id="4" name="Slide Number Placeholder 3"/>
          <p:cNvSpPr>
            <a:spLocks noGrp="1"/>
          </p:cNvSpPr>
          <p:nvPr>
            <p:ph type="sldNum" sz="quarter" idx="5"/>
          </p:nvPr>
        </p:nvSpPr>
        <p:spPr/>
        <p:txBody>
          <a:bodyPr/>
          <a:lstStyle/>
          <a:p>
            <a:fld id="{5217D443-F693-413D-B0FD-0B0A9BFF7ADA}" type="slidenum">
              <a:rPr lang="en-PK" smtClean="0"/>
              <a:t>4</a:t>
            </a:fld>
            <a:endParaRPr lang="en-PK"/>
          </a:p>
        </p:txBody>
      </p:sp>
    </p:spTree>
    <p:extLst>
      <p:ext uri="{BB962C8B-B14F-4D97-AF65-F5344CB8AC3E}">
        <p14:creationId xmlns:p14="http://schemas.microsoft.com/office/powerpoint/2010/main" val="1364855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DA185-B5F9-17AF-92BF-DFE990611A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C59A4C2D-FEBC-04F6-9924-AF5DBDFC11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437CC80B-39C9-38BE-97C1-255A70B4FB6C}"/>
              </a:ext>
            </a:extLst>
          </p:cNvPr>
          <p:cNvSpPr>
            <a:spLocks noGrp="1"/>
          </p:cNvSpPr>
          <p:nvPr>
            <p:ph type="dt" sz="half" idx="10"/>
          </p:nvPr>
        </p:nvSpPr>
        <p:spPr/>
        <p:txBody>
          <a:bodyPr/>
          <a:lstStyle/>
          <a:p>
            <a:fld id="{187C6756-6102-4259-B40B-0718AF07DF35}" type="datetimeFigureOut">
              <a:rPr lang="en-PK" smtClean="0"/>
              <a:t>26/10/2026</a:t>
            </a:fld>
            <a:endParaRPr lang="en-PK"/>
          </a:p>
        </p:txBody>
      </p:sp>
      <p:sp>
        <p:nvSpPr>
          <p:cNvPr id="5" name="Footer Placeholder 4">
            <a:extLst>
              <a:ext uri="{FF2B5EF4-FFF2-40B4-BE49-F238E27FC236}">
                <a16:creationId xmlns:a16="http://schemas.microsoft.com/office/drawing/2014/main" id="{9AEE888A-667F-B38E-9944-198E81A1B132}"/>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13C6D513-EE62-04BF-0B44-6B0BECCF9326}"/>
              </a:ext>
            </a:extLst>
          </p:cNvPr>
          <p:cNvSpPr>
            <a:spLocks noGrp="1"/>
          </p:cNvSpPr>
          <p:nvPr>
            <p:ph type="sldNum" sz="quarter" idx="12"/>
          </p:nvPr>
        </p:nvSpPr>
        <p:spPr/>
        <p:txBody>
          <a:bodyPr/>
          <a:lstStyle/>
          <a:p>
            <a:fld id="{64F069EE-6B3C-43A6-BA10-5D41419D3069}" type="slidenum">
              <a:rPr lang="en-PK" smtClean="0"/>
              <a:t>‹#›</a:t>
            </a:fld>
            <a:endParaRPr lang="en-PK"/>
          </a:p>
        </p:txBody>
      </p:sp>
    </p:spTree>
    <p:extLst>
      <p:ext uri="{BB962C8B-B14F-4D97-AF65-F5344CB8AC3E}">
        <p14:creationId xmlns:p14="http://schemas.microsoft.com/office/powerpoint/2010/main" val="623159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12DD9-CBD0-A137-F1AD-EFDA738EA241}"/>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2E847E44-C3A9-3B2A-592F-E2EE27273A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37EA09E-4BF7-9138-A9FF-6793AB733103}"/>
              </a:ext>
            </a:extLst>
          </p:cNvPr>
          <p:cNvSpPr>
            <a:spLocks noGrp="1"/>
          </p:cNvSpPr>
          <p:nvPr>
            <p:ph type="dt" sz="half" idx="10"/>
          </p:nvPr>
        </p:nvSpPr>
        <p:spPr/>
        <p:txBody>
          <a:bodyPr/>
          <a:lstStyle/>
          <a:p>
            <a:fld id="{187C6756-6102-4259-B40B-0718AF07DF35}" type="datetimeFigureOut">
              <a:rPr lang="en-PK" smtClean="0"/>
              <a:t>26/10/2026</a:t>
            </a:fld>
            <a:endParaRPr lang="en-PK"/>
          </a:p>
        </p:txBody>
      </p:sp>
      <p:sp>
        <p:nvSpPr>
          <p:cNvPr id="5" name="Footer Placeholder 4">
            <a:extLst>
              <a:ext uri="{FF2B5EF4-FFF2-40B4-BE49-F238E27FC236}">
                <a16:creationId xmlns:a16="http://schemas.microsoft.com/office/drawing/2014/main" id="{288DE42F-F6F4-5B62-76D2-A714224BE366}"/>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BDE42766-1D78-5DA5-C461-006502278CCA}"/>
              </a:ext>
            </a:extLst>
          </p:cNvPr>
          <p:cNvSpPr>
            <a:spLocks noGrp="1"/>
          </p:cNvSpPr>
          <p:nvPr>
            <p:ph type="sldNum" sz="quarter" idx="12"/>
          </p:nvPr>
        </p:nvSpPr>
        <p:spPr/>
        <p:txBody>
          <a:bodyPr/>
          <a:lstStyle/>
          <a:p>
            <a:fld id="{64F069EE-6B3C-43A6-BA10-5D41419D3069}" type="slidenum">
              <a:rPr lang="en-PK" smtClean="0"/>
              <a:t>‹#›</a:t>
            </a:fld>
            <a:endParaRPr lang="en-PK"/>
          </a:p>
        </p:txBody>
      </p:sp>
    </p:spTree>
    <p:extLst>
      <p:ext uri="{BB962C8B-B14F-4D97-AF65-F5344CB8AC3E}">
        <p14:creationId xmlns:p14="http://schemas.microsoft.com/office/powerpoint/2010/main" val="900979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F54E2-F7B6-005C-FA6A-97C25F5E31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1242E04D-68FA-D5C0-56CC-803560AC29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6FE50A-B86D-575A-DE19-7863FBEBF0D1}"/>
              </a:ext>
            </a:extLst>
          </p:cNvPr>
          <p:cNvSpPr>
            <a:spLocks noGrp="1"/>
          </p:cNvSpPr>
          <p:nvPr>
            <p:ph type="dt" sz="half" idx="10"/>
          </p:nvPr>
        </p:nvSpPr>
        <p:spPr/>
        <p:txBody>
          <a:bodyPr/>
          <a:lstStyle/>
          <a:p>
            <a:fld id="{187C6756-6102-4259-B40B-0718AF07DF35}" type="datetimeFigureOut">
              <a:rPr lang="en-PK" smtClean="0"/>
              <a:t>26/10/2026</a:t>
            </a:fld>
            <a:endParaRPr lang="en-PK"/>
          </a:p>
        </p:txBody>
      </p:sp>
      <p:sp>
        <p:nvSpPr>
          <p:cNvPr id="5" name="Footer Placeholder 4">
            <a:extLst>
              <a:ext uri="{FF2B5EF4-FFF2-40B4-BE49-F238E27FC236}">
                <a16:creationId xmlns:a16="http://schemas.microsoft.com/office/drawing/2014/main" id="{0AA2670E-D1FD-E09D-A5F4-95CE1E1C91A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2112146A-53E6-DEBE-4E9A-F52402CE3234}"/>
              </a:ext>
            </a:extLst>
          </p:cNvPr>
          <p:cNvSpPr>
            <a:spLocks noGrp="1"/>
          </p:cNvSpPr>
          <p:nvPr>
            <p:ph type="sldNum" sz="quarter" idx="12"/>
          </p:nvPr>
        </p:nvSpPr>
        <p:spPr/>
        <p:txBody>
          <a:bodyPr/>
          <a:lstStyle/>
          <a:p>
            <a:fld id="{64F069EE-6B3C-43A6-BA10-5D41419D3069}" type="slidenum">
              <a:rPr lang="en-PK" smtClean="0"/>
              <a:t>‹#›</a:t>
            </a:fld>
            <a:endParaRPr lang="en-PK"/>
          </a:p>
        </p:txBody>
      </p:sp>
    </p:spTree>
    <p:extLst>
      <p:ext uri="{BB962C8B-B14F-4D97-AF65-F5344CB8AC3E}">
        <p14:creationId xmlns:p14="http://schemas.microsoft.com/office/powerpoint/2010/main" val="311571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D58D9-65B2-51F2-A4C8-47ADC6FF34B7}"/>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2AE24E67-560A-A8B9-ECA5-EB089A2E3A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15077557-2EB0-0AEB-55B0-11FC1CF0CE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DA2F1DA9-B99A-A1AA-DE36-B95B9C5AA9B7}"/>
              </a:ext>
            </a:extLst>
          </p:cNvPr>
          <p:cNvSpPr>
            <a:spLocks noGrp="1"/>
          </p:cNvSpPr>
          <p:nvPr>
            <p:ph type="dt" sz="half" idx="10"/>
          </p:nvPr>
        </p:nvSpPr>
        <p:spPr/>
        <p:txBody>
          <a:bodyPr/>
          <a:lstStyle/>
          <a:p>
            <a:fld id="{187C6756-6102-4259-B40B-0718AF07DF35}" type="datetimeFigureOut">
              <a:rPr lang="en-PK" smtClean="0"/>
              <a:t>26/10/2026</a:t>
            </a:fld>
            <a:endParaRPr lang="en-PK"/>
          </a:p>
        </p:txBody>
      </p:sp>
      <p:sp>
        <p:nvSpPr>
          <p:cNvPr id="6" name="Footer Placeholder 5">
            <a:extLst>
              <a:ext uri="{FF2B5EF4-FFF2-40B4-BE49-F238E27FC236}">
                <a16:creationId xmlns:a16="http://schemas.microsoft.com/office/drawing/2014/main" id="{6D12DDD4-22E9-A086-FB8B-713ACD877320}"/>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F1DD6FE-A843-FE04-6F41-208D727C8D3D}"/>
              </a:ext>
            </a:extLst>
          </p:cNvPr>
          <p:cNvSpPr>
            <a:spLocks noGrp="1"/>
          </p:cNvSpPr>
          <p:nvPr>
            <p:ph type="sldNum" sz="quarter" idx="12"/>
          </p:nvPr>
        </p:nvSpPr>
        <p:spPr/>
        <p:txBody>
          <a:bodyPr/>
          <a:lstStyle/>
          <a:p>
            <a:fld id="{64F069EE-6B3C-43A6-BA10-5D41419D3069}" type="slidenum">
              <a:rPr lang="en-PK" smtClean="0"/>
              <a:t>‹#›</a:t>
            </a:fld>
            <a:endParaRPr lang="en-PK"/>
          </a:p>
        </p:txBody>
      </p:sp>
    </p:spTree>
    <p:extLst>
      <p:ext uri="{BB962C8B-B14F-4D97-AF65-F5344CB8AC3E}">
        <p14:creationId xmlns:p14="http://schemas.microsoft.com/office/powerpoint/2010/main" val="846223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2574D-9A8B-3528-BA02-B1F0D830E832}"/>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5D328A40-7BFD-FB69-372F-A8AB39C980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0983DA-2616-EA03-1770-B164E03828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2E218483-74AC-3806-60D3-E18F152618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3BB180-9CF5-8DFC-06C1-01E98DC5D3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2CEC0C2F-431B-C2B2-5C8D-3BA0674839E4}"/>
              </a:ext>
            </a:extLst>
          </p:cNvPr>
          <p:cNvSpPr>
            <a:spLocks noGrp="1"/>
          </p:cNvSpPr>
          <p:nvPr>
            <p:ph type="dt" sz="half" idx="10"/>
          </p:nvPr>
        </p:nvSpPr>
        <p:spPr/>
        <p:txBody>
          <a:bodyPr/>
          <a:lstStyle/>
          <a:p>
            <a:fld id="{187C6756-6102-4259-B40B-0718AF07DF35}" type="datetimeFigureOut">
              <a:rPr lang="en-PK" smtClean="0"/>
              <a:t>26/10/2026</a:t>
            </a:fld>
            <a:endParaRPr lang="en-PK"/>
          </a:p>
        </p:txBody>
      </p:sp>
      <p:sp>
        <p:nvSpPr>
          <p:cNvPr id="8" name="Footer Placeholder 7">
            <a:extLst>
              <a:ext uri="{FF2B5EF4-FFF2-40B4-BE49-F238E27FC236}">
                <a16:creationId xmlns:a16="http://schemas.microsoft.com/office/drawing/2014/main" id="{1DADDB03-5491-9E0D-87BB-FC750BC2384B}"/>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28C2EAB3-46AC-8676-B45E-CC8EFE848C17}"/>
              </a:ext>
            </a:extLst>
          </p:cNvPr>
          <p:cNvSpPr>
            <a:spLocks noGrp="1"/>
          </p:cNvSpPr>
          <p:nvPr>
            <p:ph type="sldNum" sz="quarter" idx="12"/>
          </p:nvPr>
        </p:nvSpPr>
        <p:spPr/>
        <p:txBody>
          <a:bodyPr/>
          <a:lstStyle/>
          <a:p>
            <a:fld id="{64F069EE-6B3C-43A6-BA10-5D41419D3069}" type="slidenum">
              <a:rPr lang="en-PK" smtClean="0"/>
              <a:t>‹#›</a:t>
            </a:fld>
            <a:endParaRPr lang="en-PK"/>
          </a:p>
        </p:txBody>
      </p:sp>
    </p:spTree>
    <p:extLst>
      <p:ext uri="{BB962C8B-B14F-4D97-AF65-F5344CB8AC3E}">
        <p14:creationId xmlns:p14="http://schemas.microsoft.com/office/powerpoint/2010/main" val="1895751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CCDAC-6B23-FE18-4405-0A5B424A6CFA}"/>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6B1B4541-FCB5-B062-E8C8-8365EC976465}"/>
              </a:ext>
            </a:extLst>
          </p:cNvPr>
          <p:cNvSpPr>
            <a:spLocks noGrp="1"/>
          </p:cNvSpPr>
          <p:nvPr>
            <p:ph type="dt" sz="half" idx="10"/>
          </p:nvPr>
        </p:nvSpPr>
        <p:spPr/>
        <p:txBody>
          <a:bodyPr/>
          <a:lstStyle/>
          <a:p>
            <a:fld id="{187C6756-6102-4259-B40B-0718AF07DF35}" type="datetimeFigureOut">
              <a:rPr lang="en-PK" smtClean="0"/>
              <a:t>26/10/2026</a:t>
            </a:fld>
            <a:endParaRPr lang="en-PK"/>
          </a:p>
        </p:txBody>
      </p:sp>
      <p:sp>
        <p:nvSpPr>
          <p:cNvPr id="4" name="Footer Placeholder 3">
            <a:extLst>
              <a:ext uri="{FF2B5EF4-FFF2-40B4-BE49-F238E27FC236}">
                <a16:creationId xmlns:a16="http://schemas.microsoft.com/office/drawing/2014/main" id="{B8F74ECD-769E-B9FC-9D8B-FF8DC3A61FEC}"/>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2F82BAE1-C0FD-BC6B-8DD3-9E962070CD7F}"/>
              </a:ext>
            </a:extLst>
          </p:cNvPr>
          <p:cNvSpPr>
            <a:spLocks noGrp="1"/>
          </p:cNvSpPr>
          <p:nvPr>
            <p:ph type="sldNum" sz="quarter" idx="12"/>
          </p:nvPr>
        </p:nvSpPr>
        <p:spPr/>
        <p:txBody>
          <a:bodyPr/>
          <a:lstStyle/>
          <a:p>
            <a:fld id="{64F069EE-6B3C-43A6-BA10-5D41419D3069}" type="slidenum">
              <a:rPr lang="en-PK" smtClean="0"/>
              <a:t>‹#›</a:t>
            </a:fld>
            <a:endParaRPr lang="en-PK"/>
          </a:p>
        </p:txBody>
      </p:sp>
    </p:spTree>
    <p:extLst>
      <p:ext uri="{BB962C8B-B14F-4D97-AF65-F5344CB8AC3E}">
        <p14:creationId xmlns:p14="http://schemas.microsoft.com/office/powerpoint/2010/main" val="2655407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DBA29D-AE53-2467-EB82-DC4212B168F2}"/>
              </a:ext>
            </a:extLst>
          </p:cNvPr>
          <p:cNvSpPr>
            <a:spLocks noGrp="1"/>
          </p:cNvSpPr>
          <p:nvPr>
            <p:ph type="dt" sz="half" idx="10"/>
          </p:nvPr>
        </p:nvSpPr>
        <p:spPr/>
        <p:txBody>
          <a:bodyPr/>
          <a:lstStyle/>
          <a:p>
            <a:fld id="{187C6756-6102-4259-B40B-0718AF07DF35}" type="datetimeFigureOut">
              <a:rPr lang="en-PK" smtClean="0"/>
              <a:t>26/10/2026</a:t>
            </a:fld>
            <a:endParaRPr lang="en-PK"/>
          </a:p>
        </p:txBody>
      </p:sp>
      <p:sp>
        <p:nvSpPr>
          <p:cNvPr id="3" name="Footer Placeholder 2">
            <a:extLst>
              <a:ext uri="{FF2B5EF4-FFF2-40B4-BE49-F238E27FC236}">
                <a16:creationId xmlns:a16="http://schemas.microsoft.com/office/drawing/2014/main" id="{FB9872CC-910B-150A-1431-B0E9F3EDAE17}"/>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BD47DC09-410A-52B6-DDDB-36AD849733F9}"/>
              </a:ext>
            </a:extLst>
          </p:cNvPr>
          <p:cNvSpPr>
            <a:spLocks noGrp="1"/>
          </p:cNvSpPr>
          <p:nvPr>
            <p:ph type="sldNum" sz="quarter" idx="12"/>
          </p:nvPr>
        </p:nvSpPr>
        <p:spPr/>
        <p:txBody>
          <a:bodyPr/>
          <a:lstStyle/>
          <a:p>
            <a:fld id="{64F069EE-6B3C-43A6-BA10-5D41419D3069}" type="slidenum">
              <a:rPr lang="en-PK" smtClean="0"/>
              <a:t>‹#›</a:t>
            </a:fld>
            <a:endParaRPr lang="en-PK"/>
          </a:p>
        </p:txBody>
      </p:sp>
    </p:spTree>
    <p:extLst>
      <p:ext uri="{BB962C8B-B14F-4D97-AF65-F5344CB8AC3E}">
        <p14:creationId xmlns:p14="http://schemas.microsoft.com/office/powerpoint/2010/main" val="3633138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3D002-5F3F-8D55-1B57-7D593A2567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9C1C1BB2-63D6-5400-0487-042DF0E638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CCB437F4-C0E8-79A0-6FAE-53B5A63644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2D700B-8B3F-78ED-1055-06CEB8D43899}"/>
              </a:ext>
            </a:extLst>
          </p:cNvPr>
          <p:cNvSpPr>
            <a:spLocks noGrp="1"/>
          </p:cNvSpPr>
          <p:nvPr>
            <p:ph type="dt" sz="half" idx="10"/>
          </p:nvPr>
        </p:nvSpPr>
        <p:spPr/>
        <p:txBody>
          <a:bodyPr/>
          <a:lstStyle/>
          <a:p>
            <a:fld id="{187C6756-6102-4259-B40B-0718AF07DF35}" type="datetimeFigureOut">
              <a:rPr lang="en-PK" smtClean="0"/>
              <a:t>26/10/2026</a:t>
            </a:fld>
            <a:endParaRPr lang="en-PK"/>
          </a:p>
        </p:txBody>
      </p:sp>
      <p:sp>
        <p:nvSpPr>
          <p:cNvPr id="6" name="Footer Placeholder 5">
            <a:extLst>
              <a:ext uri="{FF2B5EF4-FFF2-40B4-BE49-F238E27FC236}">
                <a16:creationId xmlns:a16="http://schemas.microsoft.com/office/drawing/2014/main" id="{53AE768C-6181-44F9-88B4-DE71D002E67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7F3E4306-8DD9-D577-1D8C-1B5445940E05}"/>
              </a:ext>
            </a:extLst>
          </p:cNvPr>
          <p:cNvSpPr>
            <a:spLocks noGrp="1"/>
          </p:cNvSpPr>
          <p:nvPr>
            <p:ph type="sldNum" sz="quarter" idx="12"/>
          </p:nvPr>
        </p:nvSpPr>
        <p:spPr/>
        <p:txBody>
          <a:bodyPr/>
          <a:lstStyle/>
          <a:p>
            <a:fld id="{64F069EE-6B3C-43A6-BA10-5D41419D3069}" type="slidenum">
              <a:rPr lang="en-PK" smtClean="0"/>
              <a:t>‹#›</a:t>
            </a:fld>
            <a:endParaRPr lang="en-PK"/>
          </a:p>
        </p:txBody>
      </p:sp>
    </p:spTree>
    <p:extLst>
      <p:ext uri="{BB962C8B-B14F-4D97-AF65-F5344CB8AC3E}">
        <p14:creationId xmlns:p14="http://schemas.microsoft.com/office/powerpoint/2010/main" val="1403830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947D-4031-F893-8413-ADDC1AB124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9E9B936C-8B91-9C71-765F-D232E70D6E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4A3487B3-CB62-14F9-4317-9DB4295A12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599EF9-4975-7E41-98B8-17B3373571AF}"/>
              </a:ext>
            </a:extLst>
          </p:cNvPr>
          <p:cNvSpPr>
            <a:spLocks noGrp="1"/>
          </p:cNvSpPr>
          <p:nvPr>
            <p:ph type="dt" sz="half" idx="10"/>
          </p:nvPr>
        </p:nvSpPr>
        <p:spPr/>
        <p:txBody>
          <a:bodyPr/>
          <a:lstStyle/>
          <a:p>
            <a:fld id="{187C6756-6102-4259-B40B-0718AF07DF35}" type="datetimeFigureOut">
              <a:rPr lang="en-PK" smtClean="0"/>
              <a:t>26/10/2026</a:t>
            </a:fld>
            <a:endParaRPr lang="en-PK"/>
          </a:p>
        </p:txBody>
      </p:sp>
      <p:sp>
        <p:nvSpPr>
          <p:cNvPr id="6" name="Footer Placeholder 5">
            <a:extLst>
              <a:ext uri="{FF2B5EF4-FFF2-40B4-BE49-F238E27FC236}">
                <a16:creationId xmlns:a16="http://schemas.microsoft.com/office/drawing/2014/main" id="{6B8ADB9D-2276-DFF1-B742-504362F0F08F}"/>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306629A-A1E7-5393-8E31-BB9857B2A747}"/>
              </a:ext>
            </a:extLst>
          </p:cNvPr>
          <p:cNvSpPr>
            <a:spLocks noGrp="1"/>
          </p:cNvSpPr>
          <p:nvPr>
            <p:ph type="sldNum" sz="quarter" idx="12"/>
          </p:nvPr>
        </p:nvSpPr>
        <p:spPr/>
        <p:txBody>
          <a:bodyPr/>
          <a:lstStyle/>
          <a:p>
            <a:fld id="{64F069EE-6B3C-43A6-BA10-5D41419D3069}" type="slidenum">
              <a:rPr lang="en-PK" smtClean="0"/>
              <a:t>‹#›</a:t>
            </a:fld>
            <a:endParaRPr lang="en-PK"/>
          </a:p>
        </p:txBody>
      </p:sp>
    </p:spTree>
    <p:extLst>
      <p:ext uri="{BB962C8B-B14F-4D97-AF65-F5344CB8AC3E}">
        <p14:creationId xmlns:p14="http://schemas.microsoft.com/office/powerpoint/2010/main" val="565682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7121A-7B85-FAD4-9FC7-7EE9CFFBB92F}"/>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89A08888-EBD9-56CC-D88C-555A12457B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54356BE8-F4D9-D317-2305-E8118736E013}"/>
              </a:ext>
            </a:extLst>
          </p:cNvPr>
          <p:cNvSpPr>
            <a:spLocks noGrp="1"/>
          </p:cNvSpPr>
          <p:nvPr>
            <p:ph type="dt" sz="half" idx="10"/>
          </p:nvPr>
        </p:nvSpPr>
        <p:spPr/>
        <p:txBody>
          <a:bodyPr/>
          <a:lstStyle/>
          <a:p>
            <a:fld id="{187C6756-6102-4259-B40B-0718AF07DF35}" type="datetimeFigureOut">
              <a:rPr lang="en-PK" smtClean="0"/>
              <a:t>26/10/2026</a:t>
            </a:fld>
            <a:endParaRPr lang="en-PK"/>
          </a:p>
        </p:txBody>
      </p:sp>
      <p:sp>
        <p:nvSpPr>
          <p:cNvPr id="5" name="Footer Placeholder 4">
            <a:extLst>
              <a:ext uri="{FF2B5EF4-FFF2-40B4-BE49-F238E27FC236}">
                <a16:creationId xmlns:a16="http://schemas.microsoft.com/office/drawing/2014/main" id="{2BFE0954-35DD-15AC-4C53-1EE9152FAB24}"/>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49F0FA2-CB36-5033-F957-D5C61F1B1DAC}"/>
              </a:ext>
            </a:extLst>
          </p:cNvPr>
          <p:cNvSpPr>
            <a:spLocks noGrp="1"/>
          </p:cNvSpPr>
          <p:nvPr>
            <p:ph type="sldNum" sz="quarter" idx="12"/>
          </p:nvPr>
        </p:nvSpPr>
        <p:spPr/>
        <p:txBody>
          <a:bodyPr/>
          <a:lstStyle/>
          <a:p>
            <a:fld id="{64F069EE-6B3C-43A6-BA10-5D41419D3069}" type="slidenum">
              <a:rPr lang="en-PK" smtClean="0"/>
              <a:t>‹#›</a:t>
            </a:fld>
            <a:endParaRPr lang="en-PK"/>
          </a:p>
        </p:txBody>
      </p:sp>
    </p:spTree>
    <p:extLst>
      <p:ext uri="{BB962C8B-B14F-4D97-AF65-F5344CB8AC3E}">
        <p14:creationId xmlns:p14="http://schemas.microsoft.com/office/powerpoint/2010/main" val="717069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1A27AD-9645-8072-C9BA-891B7BA5BB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86E36AB0-8575-3D1E-A554-E3DE7998EE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CF958C1-1D4C-A6CF-9599-615150B10A1B}"/>
              </a:ext>
            </a:extLst>
          </p:cNvPr>
          <p:cNvSpPr>
            <a:spLocks noGrp="1"/>
          </p:cNvSpPr>
          <p:nvPr>
            <p:ph type="dt" sz="half" idx="10"/>
          </p:nvPr>
        </p:nvSpPr>
        <p:spPr/>
        <p:txBody>
          <a:bodyPr/>
          <a:lstStyle/>
          <a:p>
            <a:fld id="{187C6756-6102-4259-B40B-0718AF07DF35}" type="datetimeFigureOut">
              <a:rPr lang="en-PK" smtClean="0"/>
              <a:t>26/10/2026</a:t>
            </a:fld>
            <a:endParaRPr lang="en-PK"/>
          </a:p>
        </p:txBody>
      </p:sp>
      <p:sp>
        <p:nvSpPr>
          <p:cNvPr id="5" name="Footer Placeholder 4">
            <a:extLst>
              <a:ext uri="{FF2B5EF4-FFF2-40B4-BE49-F238E27FC236}">
                <a16:creationId xmlns:a16="http://schemas.microsoft.com/office/drawing/2014/main" id="{8CBF69DF-2FF5-ACD9-D330-4D9781DAFB0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81E7884-49C2-592C-8B18-BB748EFCE0C1}"/>
              </a:ext>
            </a:extLst>
          </p:cNvPr>
          <p:cNvSpPr>
            <a:spLocks noGrp="1"/>
          </p:cNvSpPr>
          <p:nvPr>
            <p:ph type="sldNum" sz="quarter" idx="12"/>
          </p:nvPr>
        </p:nvSpPr>
        <p:spPr/>
        <p:txBody>
          <a:bodyPr/>
          <a:lstStyle/>
          <a:p>
            <a:fld id="{64F069EE-6B3C-43A6-BA10-5D41419D3069}" type="slidenum">
              <a:rPr lang="en-PK" smtClean="0"/>
              <a:t>‹#›</a:t>
            </a:fld>
            <a:endParaRPr lang="en-PK"/>
          </a:p>
        </p:txBody>
      </p:sp>
    </p:spTree>
    <p:extLst>
      <p:ext uri="{BB962C8B-B14F-4D97-AF65-F5344CB8AC3E}">
        <p14:creationId xmlns:p14="http://schemas.microsoft.com/office/powerpoint/2010/main" val="2755399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772B63-647A-3646-D6B6-79B94CC1ED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5E6F27DA-B05C-F72C-0920-2AF1F71D65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5B42407A-C0B4-5E7F-4EFA-814256772D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7C6756-6102-4259-B40B-0718AF07DF35}" type="datetimeFigureOut">
              <a:rPr lang="en-PK" smtClean="0"/>
              <a:t>26/10/2026</a:t>
            </a:fld>
            <a:endParaRPr lang="en-PK"/>
          </a:p>
        </p:txBody>
      </p:sp>
      <p:sp>
        <p:nvSpPr>
          <p:cNvPr id="5" name="Footer Placeholder 4">
            <a:extLst>
              <a:ext uri="{FF2B5EF4-FFF2-40B4-BE49-F238E27FC236}">
                <a16:creationId xmlns:a16="http://schemas.microsoft.com/office/drawing/2014/main" id="{04B9DD2C-5017-A929-71DD-61D50B0FD4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7C8A2362-916A-4B26-8FB2-C22BF32A82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F069EE-6B3C-43A6-BA10-5D41419D3069}" type="slidenum">
              <a:rPr lang="en-PK" smtClean="0"/>
              <a:t>‹#›</a:t>
            </a:fld>
            <a:endParaRPr lang="en-PK"/>
          </a:p>
        </p:txBody>
      </p:sp>
    </p:spTree>
    <p:extLst>
      <p:ext uri="{BB962C8B-B14F-4D97-AF65-F5344CB8AC3E}">
        <p14:creationId xmlns:p14="http://schemas.microsoft.com/office/powerpoint/2010/main" val="40301578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7A9A1B-EEB7-51F3-1E02-9EC924CF647B}"/>
              </a:ext>
            </a:extLst>
          </p:cNvPr>
          <p:cNvSpPr/>
          <p:nvPr/>
        </p:nvSpPr>
        <p:spPr>
          <a:xfrm>
            <a:off x="0" y="0"/>
            <a:ext cx="12191695" cy="2423160"/>
          </a:xfrm>
          <a:prstGeom prst="rect">
            <a:avLst/>
          </a:prstGeom>
          <a:solidFill>
            <a:srgbClr val="1F3A5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3" name="Rectangle 2">
            <a:extLst>
              <a:ext uri="{FF2B5EF4-FFF2-40B4-BE49-F238E27FC236}">
                <a16:creationId xmlns:a16="http://schemas.microsoft.com/office/drawing/2014/main" id="{A768D4A2-FC05-7BD5-C53B-A768BAEA5C00}"/>
              </a:ext>
            </a:extLst>
          </p:cNvPr>
          <p:cNvSpPr/>
          <p:nvPr/>
        </p:nvSpPr>
        <p:spPr>
          <a:xfrm>
            <a:off x="0" y="2423160"/>
            <a:ext cx="12191695" cy="68580"/>
          </a:xfrm>
          <a:prstGeom prst="rect">
            <a:avLst/>
          </a:prstGeom>
          <a:solidFill>
            <a:srgbClr val="D55E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4" name="TextBox 3">
            <a:extLst>
              <a:ext uri="{FF2B5EF4-FFF2-40B4-BE49-F238E27FC236}">
                <a16:creationId xmlns:a16="http://schemas.microsoft.com/office/drawing/2014/main" id="{81E6394D-1C33-B545-94AA-67431AC7071C}"/>
              </a:ext>
            </a:extLst>
          </p:cNvPr>
          <p:cNvSpPr txBox="1"/>
          <p:nvPr/>
        </p:nvSpPr>
        <p:spPr>
          <a:xfrm>
            <a:off x="658368" y="512064"/>
            <a:ext cx="10881360" cy="184666"/>
          </a:xfrm>
          <a:prstGeom prst="rect">
            <a:avLst/>
          </a:prstGeom>
          <a:noFill/>
        </p:spPr>
        <p:txBody>
          <a:bodyPr vert="horz" wrap="square" lIns="0" tIns="0" rIns="0" bIns="0" rtlCol="0" anchor="t">
            <a:spAutoFit/>
          </a:bodyPr>
          <a:lstStyle/>
          <a:p>
            <a:r>
              <a:rPr lang="en-US" sz="1200" b="1">
                <a:solidFill>
                  <a:srgbClr val="D9E2F3"/>
                </a:solidFill>
                <a:latin typeface="Calibri" panose="020F0502020204030204" pitchFamily="34" charset="0"/>
              </a:rPr>
              <a:t>ECO346  ·  ASSIGNMENT 1  ·  FALL 2026</a:t>
            </a:r>
            <a:endParaRPr lang="en-PK" sz="1200" b="1">
              <a:solidFill>
                <a:srgbClr val="D9E2F3"/>
              </a:solidFill>
              <a:latin typeface="Calibri" panose="020F0502020204030204" pitchFamily="34" charset="0"/>
            </a:endParaRPr>
          </a:p>
        </p:txBody>
      </p:sp>
      <p:sp>
        <p:nvSpPr>
          <p:cNvPr id="5" name="TextBox 4">
            <a:extLst>
              <a:ext uri="{FF2B5EF4-FFF2-40B4-BE49-F238E27FC236}">
                <a16:creationId xmlns:a16="http://schemas.microsoft.com/office/drawing/2014/main" id="{F94DB5EF-D71E-2E8A-B163-ADBC0FE0025A}"/>
              </a:ext>
            </a:extLst>
          </p:cNvPr>
          <p:cNvSpPr txBox="1"/>
          <p:nvPr/>
        </p:nvSpPr>
        <p:spPr>
          <a:xfrm>
            <a:off x="658368" y="914400"/>
            <a:ext cx="10972800" cy="523220"/>
          </a:xfrm>
          <a:prstGeom prst="rect">
            <a:avLst/>
          </a:prstGeom>
          <a:noFill/>
        </p:spPr>
        <p:txBody>
          <a:bodyPr vert="horz" wrap="square" lIns="0" tIns="0" rIns="0" bIns="0" rtlCol="0" anchor="t">
            <a:spAutoFit/>
          </a:bodyPr>
          <a:lstStyle/>
          <a:p>
            <a:r>
              <a:rPr lang="en-US" sz="3400" b="1">
                <a:solidFill>
                  <a:srgbClr val="FFFFFF"/>
                </a:solidFill>
                <a:latin typeface="Calibri" panose="020F0502020204030204" pitchFamily="34" charset="0"/>
              </a:rPr>
              <a:t>Education spending and the literacy gender gap</a:t>
            </a:r>
            <a:endParaRPr lang="en-PK" sz="3400" b="1">
              <a:solidFill>
                <a:srgbClr val="FFFFFF"/>
              </a:solidFill>
              <a:latin typeface="Calibri" panose="020F0502020204030204" pitchFamily="34" charset="0"/>
            </a:endParaRPr>
          </a:p>
        </p:txBody>
      </p:sp>
      <p:sp>
        <p:nvSpPr>
          <p:cNvPr id="6" name="TextBox 5">
            <a:extLst>
              <a:ext uri="{FF2B5EF4-FFF2-40B4-BE49-F238E27FC236}">
                <a16:creationId xmlns:a16="http://schemas.microsoft.com/office/drawing/2014/main" id="{58529EBF-3CBE-2E1A-4D6C-6A67DE8FA80C}"/>
              </a:ext>
            </a:extLst>
          </p:cNvPr>
          <p:cNvSpPr txBox="1"/>
          <p:nvPr/>
        </p:nvSpPr>
        <p:spPr>
          <a:xfrm>
            <a:off x="658368" y="1792224"/>
            <a:ext cx="10881360" cy="276999"/>
          </a:xfrm>
          <a:prstGeom prst="rect">
            <a:avLst/>
          </a:prstGeom>
          <a:noFill/>
        </p:spPr>
        <p:txBody>
          <a:bodyPr vert="horz" wrap="square" lIns="0" tIns="0" rIns="0" bIns="0" rtlCol="0" anchor="t">
            <a:spAutoFit/>
          </a:bodyPr>
          <a:lstStyle/>
          <a:p>
            <a:r>
              <a:rPr lang="en-US" b="1">
                <a:solidFill>
                  <a:srgbClr val="F4B183"/>
                </a:solidFill>
                <a:latin typeface="Calibri" panose="020F0502020204030204" pitchFamily="34" charset="0"/>
              </a:rPr>
              <a:t>Variant 6  ·  Balochistan rural  (prov_code 4, urban_rural 1)</a:t>
            </a:r>
            <a:endParaRPr lang="en-PK" b="1">
              <a:solidFill>
                <a:srgbClr val="F4B183"/>
              </a:solidFill>
              <a:latin typeface="Calibri" panose="020F0502020204030204" pitchFamily="34" charset="0"/>
            </a:endParaRPr>
          </a:p>
        </p:txBody>
      </p:sp>
      <p:sp>
        <p:nvSpPr>
          <p:cNvPr id="7" name="Rectangle 6">
            <a:extLst>
              <a:ext uri="{FF2B5EF4-FFF2-40B4-BE49-F238E27FC236}">
                <a16:creationId xmlns:a16="http://schemas.microsoft.com/office/drawing/2014/main" id="{DCE550B5-E52A-86B5-5B36-4AA09DE4AF35}"/>
              </a:ext>
            </a:extLst>
          </p:cNvPr>
          <p:cNvSpPr/>
          <p:nvPr/>
        </p:nvSpPr>
        <p:spPr>
          <a:xfrm>
            <a:off x="502920" y="2980944"/>
            <a:ext cx="73152" cy="1078992"/>
          </a:xfrm>
          <a:prstGeom prst="rect">
            <a:avLst/>
          </a:prstGeom>
          <a:solidFill>
            <a:srgbClr val="D55E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8" name="TextBox 7">
            <a:extLst>
              <a:ext uri="{FF2B5EF4-FFF2-40B4-BE49-F238E27FC236}">
                <a16:creationId xmlns:a16="http://schemas.microsoft.com/office/drawing/2014/main" id="{F29348E8-698D-350D-EFD5-997ACBD4F56F}"/>
              </a:ext>
            </a:extLst>
          </p:cNvPr>
          <p:cNvSpPr txBox="1"/>
          <p:nvPr/>
        </p:nvSpPr>
        <p:spPr>
          <a:xfrm>
            <a:off x="749808" y="2871216"/>
            <a:ext cx="6400800" cy="677108"/>
          </a:xfrm>
          <a:prstGeom prst="rect">
            <a:avLst/>
          </a:prstGeom>
          <a:noFill/>
        </p:spPr>
        <p:txBody>
          <a:bodyPr vert="horz" wrap="square" lIns="0" tIns="0" rIns="0" bIns="0" rtlCol="0" anchor="t">
            <a:spAutoFit/>
          </a:bodyPr>
          <a:lstStyle/>
          <a:p>
            <a:r>
              <a:rPr lang="en-US" sz="4400" b="1">
                <a:solidFill>
                  <a:srgbClr val="1F3A5F"/>
                </a:solidFill>
                <a:latin typeface="Calibri" panose="020F0502020204030204" pitchFamily="34" charset="0"/>
              </a:rPr>
              <a:t>FA24-BED-046</a:t>
            </a:r>
            <a:endParaRPr lang="en-PK" sz="4400" b="1">
              <a:solidFill>
                <a:srgbClr val="1F3A5F"/>
              </a:solidFill>
              <a:latin typeface="Calibri" panose="020F0502020204030204" pitchFamily="34" charset="0"/>
            </a:endParaRPr>
          </a:p>
        </p:txBody>
      </p:sp>
      <p:sp>
        <p:nvSpPr>
          <p:cNvPr id="9" name="TextBox 8">
            <a:extLst>
              <a:ext uri="{FF2B5EF4-FFF2-40B4-BE49-F238E27FC236}">
                <a16:creationId xmlns:a16="http://schemas.microsoft.com/office/drawing/2014/main" id="{81D56092-D330-A9AE-4839-7C92FA57BD86}"/>
              </a:ext>
            </a:extLst>
          </p:cNvPr>
          <p:cNvSpPr txBox="1"/>
          <p:nvPr/>
        </p:nvSpPr>
        <p:spPr>
          <a:xfrm>
            <a:off x="768096" y="3675888"/>
            <a:ext cx="7772400" cy="246221"/>
          </a:xfrm>
          <a:prstGeom prst="rect">
            <a:avLst/>
          </a:prstGeom>
          <a:noFill/>
        </p:spPr>
        <p:txBody>
          <a:bodyPr vert="horz" wrap="square" lIns="0" tIns="0" rIns="0" bIns="0" rtlCol="0" anchor="t">
            <a:spAutoFit/>
          </a:bodyPr>
          <a:lstStyle/>
          <a:p>
            <a:r>
              <a:rPr lang="en-US" sz="1600">
                <a:solidFill>
                  <a:srgbClr val="595959"/>
                </a:solidFill>
                <a:latin typeface="Calibri" panose="020F0502020204030204" pitchFamily="34" charset="0"/>
              </a:rPr>
              <a:t>Section B  ·  BS Economics with Data Science</a:t>
            </a:r>
            <a:endParaRPr lang="en-PK" sz="1600">
              <a:solidFill>
                <a:srgbClr val="595959"/>
              </a:solidFill>
              <a:latin typeface="Calibri" panose="020F0502020204030204" pitchFamily="34" charset="0"/>
            </a:endParaRPr>
          </a:p>
        </p:txBody>
      </p:sp>
      <p:sp>
        <p:nvSpPr>
          <p:cNvPr id="10" name="TextBox 9">
            <a:extLst>
              <a:ext uri="{FF2B5EF4-FFF2-40B4-BE49-F238E27FC236}">
                <a16:creationId xmlns:a16="http://schemas.microsoft.com/office/drawing/2014/main" id="{A0E4A7FE-7F06-AB83-3C76-9FCC08EC9DB9}"/>
              </a:ext>
            </a:extLst>
          </p:cNvPr>
          <p:cNvSpPr txBox="1"/>
          <p:nvPr/>
        </p:nvSpPr>
        <p:spPr>
          <a:xfrm>
            <a:off x="768096" y="4041648"/>
            <a:ext cx="8229600" cy="200055"/>
          </a:xfrm>
          <a:prstGeom prst="rect">
            <a:avLst/>
          </a:prstGeom>
          <a:noFill/>
        </p:spPr>
        <p:txBody>
          <a:bodyPr vert="horz" wrap="square" lIns="0" tIns="0" rIns="0" bIns="0" rtlCol="0" anchor="t">
            <a:spAutoFit/>
          </a:bodyPr>
          <a:lstStyle/>
          <a:p>
            <a:r>
              <a:rPr lang="en-US" sz="1300">
                <a:solidFill>
                  <a:srgbClr val="595959"/>
                </a:solidFill>
                <a:latin typeface="Calibri" panose="020F0502020204030204" pitchFamily="34" charset="0"/>
              </a:rPr>
              <a:t>PSLM 2019-20  ·  8,463 persons in 1,505 households</a:t>
            </a:r>
            <a:endParaRPr lang="en-PK" sz="1300">
              <a:solidFill>
                <a:srgbClr val="595959"/>
              </a:solidFill>
              <a:latin typeface="Calibri" panose="020F0502020204030204" pitchFamily="34" charset="0"/>
            </a:endParaRPr>
          </a:p>
        </p:txBody>
      </p:sp>
      <p:sp>
        <p:nvSpPr>
          <p:cNvPr id="11" name="TextBox 10">
            <a:extLst>
              <a:ext uri="{FF2B5EF4-FFF2-40B4-BE49-F238E27FC236}">
                <a16:creationId xmlns:a16="http://schemas.microsoft.com/office/drawing/2014/main" id="{35EFEEA2-70C0-DEB6-8369-45C37327177E}"/>
              </a:ext>
            </a:extLst>
          </p:cNvPr>
          <p:cNvSpPr txBox="1"/>
          <p:nvPr/>
        </p:nvSpPr>
        <p:spPr>
          <a:xfrm>
            <a:off x="768096" y="4572000"/>
            <a:ext cx="8686800" cy="184666"/>
          </a:xfrm>
          <a:prstGeom prst="rect">
            <a:avLst/>
          </a:prstGeom>
          <a:noFill/>
        </p:spPr>
        <p:txBody>
          <a:bodyPr vert="horz" wrap="square" lIns="0" tIns="0" rIns="0" bIns="0" rtlCol="0" anchor="t">
            <a:spAutoFit/>
          </a:bodyPr>
          <a:lstStyle/>
          <a:p>
            <a:r>
              <a:rPr lang="en-US" sz="1200">
                <a:solidFill>
                  <a:srgbClr val="808080"/>
                </a:solidFill>
                <a:latin typeface="Calibri" panose="020F0502020204030204" pitchFamily="34" charset="0"/>
              </a:rPr>
              <a:t>Literacy sample 5,677  ·  students 1,464  ·  weighted by hhweight</a:t>
            </a:r>
            <a:endParaRPr lang="en-PK" sz="1200">
              <a:solidFill>
                <a:srgbClr val="808080"/>
              </a:solidFill>
              <a:latin typeface="Calibri" panose="020F0502020204030204" pitchFamily="34" charset="0"/>
            </a:endParaRPr>
          </a:p>
        </p:txBody>
      </p:sp>
      <p:sp>
        <p:nvSpPr>
          <p:cNvPr id="12" name="TextBox 11">
            <a:extLst>
              <a:ext uri="{FF2B5EF4-FFF2-40B4-BE49-F238E27FC236}">
                <a16:creationId xmlns:a16="http://schemas.microsoft.com/office/drawing/2014/main" id="{8DE53876-E121-F2F8-016F-762B80F3E4C9}"/>
              </a:ext>
            </a:extLst>
          </p:cNvPr>
          <p:cNvSpPr txBox="1"/>
          <p:nvPr/>
        </p:nvSpPr>
        <p:spPr>
          <a:xfrm>
            <a:off x="9601200" y="6144768"/>
            <a:ext cx="2011680" cy="184666"/>
          </a:xfrm>
          <a:prstGeom prst="rect">
            <a:avLst/>
          </a:prstGeom>
          <a:noFill/>
        </p:spPr>
        <p:txBody>
          <a:bodyPr vert="horz" wrap="square" lIns="0" tIns="0" rIns="0" bIns="0" rtlCol="0" anchor="t">
            <a:spAutoFit/>
          </a:bodyPr>
          <a:lstStyle/>
          <a:p>
            <a:pPr algn="r"/>
            <a:r>
              <a:rPr lang="en-US" sz="1200">
                <a:solidFill>
                  <a:srgbClr val="595959"/>
                </a:solidFill>
                <a:latin typeface="Calibri" panose="020F0502020204030204" pitchFamily="34" charset="0"/>
              </a:rPr>
              <a:t>26 October 2026</a:t>
            </a:r>
            <a:endParaRPr lang="en-PK" sz="1200">
              <a:solidFill>
                <a:srgbClr val="595959"/>
              </a:solidFill>
              <a:latin typeface="Calibri" panose="020F0502020204030204" pitchFamily="34" charset="0"/>
            </a:endParaRPr>
          </a:p>
        </p:txBody>
      </p:sp>
      <p:sp>
        <p:nvSpPr>
          <p:cNvPr id="13" name="TextBox 12">
            <a:extLst>
              <a:ext uri="{FF2B5EF4-FFF2-40B4-BE49-F238E27FC236}">
                <a16:creationId xmlns:a16="http://schemas.microsoft.com/office/drawing/2014/main" id="{ABA8A252-1C60-F653-BA25-C3BAACA9B092}"/>
              </a:ext>
            </a:extLst>
          </p:cNvPr>
          <p:cNvSpPr txBox="1"/>
          <p:nvPr/>
        </p:nvSpPr>
        <p:spPr>
          <a:xfrm>
            <a:off x="502920" y="6144768"/>
            <a:ext cx="7315200" cy="138499"/>
          </a:xfrm>
          <a:prstGeom prst="rect">
            <a:avLst/>
          </a:prstGeom>
          <a:noFill/>
        </p:spPr>
        <p:txBody>
          <a:bodyPr vert="horz" wrap="square" lIns="0" tIns="0" rIns="0" bIns="0" rtlCol="0" anchor="t">
            <a:spAutoFit/>
          </a:bodyPr>
          <a:lstStyle/>
          <a:p>
            <a:r>
              <a:rPr lang="en-US" sz="900">
                <a:solidFill>
                  <a:srgbClr val="808080"/>
                </a:solidFill>
                <a:latin typeface="Calibri" panose="020F0502020204030204" pitchFamily="34" charset="0"/>
              </a:rPr>
              <a:t>github.com/malliyan89/ECO346-A1-FA24-BED-046</a:t>
            </a:r>
            <a:endParaRPr lang="en-PK" sz="900">
              <a:solidFill>
                <a:srgbClr val="808080"/>
              </a:solidFill>
              <a:latin typeface="Calibri" panose="020F0502020204030204" pitchFamily="34" charset="0"/>
            </a:endParaRPr>
          </a:p>
        </p:txBody>
      </p:sp>
    </p:spTree>
    <p:extLst>
      <p:ext uri="{BB962C8B-B14F-4D97-AF65-F5344CB8AC3E}">
        <p14:creationId xmlns:p14="http://schemas.microsoft.com/office/powerpoint/2010/main" val="3381361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7976025-CEED-EC83-91FB-C01FEB170D18}"/>
              </a:ext>
            </a:extLst>
          </p:cNvPr>
          <p:cNvSpPr/>
          <p:nvPr/>
        </p:nvSpPr>
        <p:spPr>
          <a:xfrm>
            <a:off x="6196448" y="1517904"/>
            <a:ext cx="5511057" cy="3886200"/>
          </a:xfrm>
          <a:prstGeom prst="rect">
            <a:avLst/>
          </a:prstGeom>
          <a:solidFill>
            <a:srgbClr val="F5F7FA"/>
          </a:solidFill>
          <a:ln w="9525">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 name="Rectangle 8">
            <a:extLst>
              <a:ext uri="{FF2B5EF4-FFF2-40B4-BE49-F238E27FC236}">
                <a16:creationId xmlns:a16="http://schemas.microsoft.com/office/drawing/2014/main" id="{B3C0F8A1-96AC-9E63-AB9D-0888052D49FC}"/>
              </a:ext>
            </a:extLst>
          </p:cNvPr>
          <p:cNvSpPr/>
          <p:nvPr/>
        </p:nvSpPr>
        <p:spPr>
          <a:xfrm>
            <a:off x="544068" y="1517904"/>
            <a:ext cx="5367528" cy="3886200"/>
          </a:xfrm>
          <a:prstGeom prst="rect">
            <a:avLst/>
          </a:prstGeom>
          <a:solidFill>
            <a:srgbClr val="F5F7FA"/>
          </a:solidFill>
          <a:ln w="9525">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 name="Rectangle 1">
            <a:extLst>
              <a:ext uri="{FF2B5EF4-FFF2-40B4-BE49-F238E27FC236}">
                <a16:creationId xmlns:a16="http://schemas.microsoft.com/office/drawing/2014/main" id="{E459D89A-2693-C128-2240-92F416A31C25}"/>
              </a:ext>
            </a:extLst>
          </p:cNvPr>
          <p:cNvSpPr/>
          <p:nvPr/>
        </p:nvSpPr>
        <p:spPr>
          <a:xfrm>
            <a:off x="548640" y="320040"/>
            <a:ext cx="731520" cy="59436"/>
          </a:xfrm>
          <a:prstGeom prst="rect">
            <a:avLst/>
          </a:prstGeom>
          <a:solidFill>
            <a:srgbClr val="D55E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3" name="TextBox 2">
            <a:extLst>
              <a:ext uri="{FF2B5EF4-FFF2-40B4-BE49-F238E27FC236}">
                <a16:creationId xmlns:a16="http://schemas.microsoft.com/office/drawing/2014/main" id="{DAC356B6-F3CF-BF5F-93FA-4138E358321B}"/>
              </a:ext>
            </a:extLst>
          </p:cNvPr>
          <p:cNvSpPr txBox="1"/>
          <p:nvPr/>
        </p:nvSpPr>
        <p:spPr>
          <a:xfrm>
            <a:off x="548640" y="475488"/>
            <a:ext cx="11064240" cy="384721"/>
          </a:xfrm>
          <a:prstGeom prst="rect">
            <a:avLst/>
          </a:prstGeom>
          <a:noFill/>
        </p:spPr>
        <p:txBody>
          <a:bodyPr vert="horz" wrap="square" lIns="0" tIns="0" rIns="0" bIns="0" rtlCol="0" anchor="t">
            <a:spAutoFit/>
          </a:bodyPr>
          <a:lstStyle/>
          <a:p>
            <a:r>
              <a:rPr lang="en-US" sz="2500" b="1">
                <a:solidFill>
                  <a:srgbClr val="1F3A5F"/>
                </a:solidFill>
                <a:latin typeface="Calibri" panose="020F0502020204030204" pitchFamily="34" charset="0"/>
              </a:rPr>
              <a:t>The makeover: conditional means replace overplotted points</a:t>
            </a:r>
            <a:endParaRPr lang="en-PK" sz="2500" b="1">
              <a:solidFill>
                <a:srgbClr val="1F3A5F"/>
              </a:solidFill>
              <a:latin typeface="Calibri" panose="020F0502020204030204" pitchFamily="34" charset="0"/>
            </a:endParaRPr>
          </a:p>
        </p:txBody>
      </p:sp>
      <p:sp>
        <p:nvSpPr>
          <p:cNvPr id="4" name="TextBox 3">
            <a:extLst>
              <a:ext uri="{FF2B5EF4-FFF2-40B4-BE49-F238E27FC236}">
                <a16:creationId xmlns:a16="http://schemas.microsoft.com/office/drawing/2014/main" id="{B3D722FE-EAB3-874A-D109-E300A0DBC125}"/>
              </a:ext>
            </a:extLst>
          </p:cNvPr>
          <p:cNvSpPr txBox="1"/>
          <p:nvPr/>
        </p:nvSpPr>
        <p:spPr>
          <a:xfrm>
            <a:off x="548640" y="941832"/>
            <a:ext cx="11064240" cy="192360"/>
          </a:xfrm>
          <a:prstGeom prst="rect">
            <a:avLst/>
          </a:prstGeom>
          <a:noFill/>
        </p:spPr>
        <p:txBody>
          <a:bodyPr vert="horz" wrap="square" lIns="0" tIns="0" rIns="0" bIns="0" rtlCol="0" anchor="t">
            <a:spAutoFit/>
          </a:bodyPr>
          <a:lstStyle/>
          <a:p>
            <a:r>
              <a:rPr lang="en-US" sz="1250">
                <a:solidFill>
                  <a:srgbClr val="595959"/>
                </a:solidFill>
                <a:latin typeface="Calibri" panose="020F0502020204030204" pitchFamily="34" charset="0"/>
              </a:rPr>
              <a:t>Question 4: R's default hides the age pattern that the redesign makes visible</a:t>
            </a:r>
            <a:endParaRPr lang="en-PK" sz="1250">
              <a:solidFill>
                <a:srgbClr val="595959"/>
              </a:solidFill>
              <a:latin typeface="Calibri" panose="020F0502020204030204" pitchFamily="34" charset="0"/>
            </a:endParaRPr>
          </a:p>
        </p:txBody>
      </p:sp>
      <p:sp>
        <p:nvSpPr>
          <p:cNvPr id="5" name="TextBox 4">
            <a:extLst>
              <a:ext uri="{FF2B5EF4-FFF2-40B4-BE49-F238E27FC236}">
                <a16:creationId xmlns:a16="http://schemas.microsoft.com/office/drawing/2014/main" id="{9A2F8AE8-0EA3-4534-095C-7735A6D3CA81}"/>
              </a:ext>
            </a:extLst>
          </p:cNvPr>
          <p:cNvSpPr txBox="1"/>
          <p:nvPr/>
        </p:nvSpPr>
        <p:spPr>
          <a:xfrm>
            <a:off x="548640" y="1307592"/>
            <a:ext cx="5394960" cy="176972"/>
          </a:xfrm>
          <a:prstGeom prst="rect">
            <a:avLst/>
          </a:prstGeom>
          <a:noFill/>
        </p:spPr>
        <p:txBody>
          <a:bodyPr vert="horz" wrap="square" lIns="0" tIns="0" rIns="0" bIns="0" rtlCol="0" anchor="t">
            <a:spAutoFit/>
          </a:bodyPr>
          <a:lstStyle/>
          <a:p>
            <a:r>
              <a:rPr lang="en-US" sz="1150" b="1">
                <a:solidFill>
                  <a:srgbClr val="D55E00"/>
                </a:solidFill>
                <a:latin typeface="Calibri" panose="020F0502020204030204" pitchFamily="34" charset="0"/>
              </a:rPr>
              <a:t>DEFAULT  ·  every person plotted</a:t>
            </a:r>
            <a:endParaRPr lang="en-PK" sz="1150" b="1">
              <a:solidFill>
                <a:srgbClr val="D55E00"/>
              </a:solidFill>
              <a:latin typeface="Calibri" panose="020F0502020204030204" pitchFamily="34" charset="0"/>
            </a:endParaRPr>
          </a:p>
        </p:txBody>
      </p:sp>
      <p:sp>
        <p:nvSpPr>
          <p:cNvPr id="6" name="TextBox 5">
            <a:extLst>
              <a:ext uri="{FF2B5EF4-FFF2-40B4-BE49-F238E27FC236}">
                <a16:creationId xmlns:a16="http://schemas.microsoft.com/office/drawing/2014/main" id="{AD94264A-F866-E703-5611-08593A464110}"/>
              </a:ext>
            </a:extLst>
          </p:cNvPr>
          <p:cNvSpPr txBox="1"/>
          <p:nvPr/>
        </p:nvSpPr>
        <p:spPr>
          <a:xfrm>
            <a:off x="6263640" y="1307592"/>
            <a:ext cx="5394960" cy="176972"/>
          </a:xfrm>
          <a:prstGeom prst="rect">
            <a:avLst/>
          </a:prstGeom>
          <a:noFill/>
        </p:spPr>
        <p:txBody>
          <a:bodyPr vert="horz" wrap="square" lIns="0" tIns="0" rIns="0" bIns="0" rtlCol="0" anchor="t">
            <a:spAutoFit/>
          </a:bodyPr>
          <a:lstStyle/>
          <a:p>
            <a:r>
              <a:rPr lang="en-US" sz="1150" b="1">
                <a:solidFill>
                  <a:srgbClr val="0072B2"/>
                </a:solidFill>
                <a:latin typeface="Calibri" panose="020F0502020204030204" pitchFamily="34" charset="0"/>
              </a:rPr>
              <a:t>REDESIGN  ·  weighted band means</a:t>
            </a:r>
            <a:endParaRPr lang="en-PK" sz="1150" b="1">
              <a:solidFill>
                <a:srgbClr val="0072B2"/>
              </a:solidFill>
              <a:latin typeface="Calibri" panose="020F0502020204030204" pitchFamily="34" charset="0"/>
            </a:endParaRPr>
          </a:p>
        </p:txBody>
      </p:sp>
      <p:pic>
        <p:nvPicPr>
          <p:cNvPr id="8" name="Graphic 7">
            <a:extLst>
              <a:ext uri="{FF2B5EF4-FFF2-40B4-BE49-F238E27FC236}">
                <a16:creationId xmlns:a16="http://schemas.microsoft.com/office/drawing/2014/main" id="{434BD162-19B5-C080-ACD8-E11552A961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5508" y="1609344"/>
            <a:ext cx="5184648" cy="3703320"/>
          </a:xfrm>
          <a:prstGeom prst="rect">
            <a:avLst/>
          </a:prstGeom>
        </p:spPr>
      </p:pic>
      <p:pic>
        <p:nvPicPr>
          <p:cNvPr id="11" name="Graphic 10">
            <a:extLst>
              <a:ext uri="{FF2B5EF4-FFF2-40B4-BE49-F238E27FC236}">
                <a16:creationId xmlns:a16="http://schemas.microsoft.com/office/drawing/2014/main" id="{29C9E9C5-8CEC-3CA4-6714-A5271C9516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87888" y="1609344"/>
            <a:ext cx="5328177" cy="3703320"/>
          </a:xfrm>
          <a:prstGeom prst="rect">
            <a:avLst/>
          </a:prstGeom>
        </p:spPr>
      </p:pic>
      <p:sp>
        <p:nvSpPr>
          <p:cNvPr id="13" name="TextBox 12">
            <a:extLst>
              <a:ext uri="{FF2B5EF4-FFF2-40B4-BE49-F238E27FC236}">
                <a16:creationId xmlns:a16="http://schemas.microsoft.com/office/drawing/2014/main" id="{555E0752-176D-AA3B-D2B6-FC26B3F43069}"/>
              </a:ext>
            </a:extLst>
          </p:cNvPr>
          <p:cNvSpPr txBox="1"/>
          <p:nvPr/>
        </p:nvSpPr>
        <p:spPr>
          <a:xfrm>
            <a:off x="548640" y="5504688"/>
            <a:ext cx="5394960" cy="169277"/>
          </a:xfrm>
          <a:prstGeom prst="rect">
            <a:avLst/>
          </a:prstGeom>
          <a:noFill/>
        </p:spPr>
        <p:txBody>
          <a:bodyPr vert="horz" wrap="square" lIns="0" tIns="0" rIns="0" bIns="0" rtlCol="0" anchor="t">
            <a:spAutoFit/>
          </a:bodyPr>
          <a:lstStyle/>
          <a:p>
            <a:r>
              <a:rPr lang="en-US" sz="1100">
                <a:solidFill>
                  <a:srgbClr val="595959"/>
                </a:solidFill>
                <a:latin typeface="Calibri" panose="020F0502020204030204" pitchFamily="34" charset="0"/>
              </a:rPr>
              <a:t>5,677 points overplot; the conditional mean is invisible.</a:t>
            </a:r>
            <a:endParaRPr lang="en-PK" sz="1100">
              <a:solidFill>
                <a:srgbClr val="595959"/>
              </a:solidFill>
              <a:latin typeface="Calibri" panose="020F0502020204030204" pitchFamily="34" charset="0"/>
            </a:endParaRPr>
          </a:p>
        </p:txBody>
      </p:sp>
      <p:sp>
        <p:nvSpPr>
          <p:cNvPr id="14" name="TextBox 13">
            <a:extLst>
              <a:ext uri="{FF2B5EF4-FFF2-40B4-BE49-F238E27FC236}">
                <a16:creationId xmlns:a16="http://schemas.microsoft.com/office/drawing/2014/main" id="{8DF99D11-76B1-4A8B-0FC6-E9F17C2E0309}"/>
              </a:ext>
            </a:extLst>
          </p:cNvPr>
          <p:cNvSpPr txBox="1"/>
          <p:nvPr/>
        </p:nvSpPr>
        <p:spPr>
          <a:xfrm>
            <a:off x="6263640" y="5504688"/>
            <a:ext cx="5394960" cy="169277"/>
          </a:xfrm>
          <a:prstGeom prst="rect">
            <a:avLst/>
          </a:prstGeom>
          <a:noFill/>
        </p:spPr>
        <p:txBody>
          <a:bodyPr vert="horz" wrap="square" lIns="0" tIns="0" rIns="0" bIns="0" rtlCol="0" anchor="t">
            <a:spAutoFit/>
          </a:bodyPr>
          <a:lstStyle/>
          <a:p>
            <a:r>
              <a:rPr lang="en-US" sz="1100">
                <a:solidFill>
                  <a:srgbClr val="595959"/>
                </a:solidFill>
                <a:latin typeface="Calibri" panose="020F0502020204030204" pitchFamily="34" charset="0"/>
              </a:rPr>
              <a:t>Position, colour, direct labels and annotation; no legend.</a:t>
            </a:r>
            <a:endParaRPr lang="en-PK" sz="1100">
              <a:solidFill>
                <a:srgbClr val="595959"/>
              </a:solidFill>
              <a:latin typeface="Calibri" panose="020F0502020204030204" pitchFamily="34" charset="0"/>
            </a:endParaRPr>
          </a:p>
        </p:txBody>
      </p:sp>
      <p:sp>
        <p:nvSpPr>
          <p:cNvPr id="15" name="TextBox 14">
            <a:extLst>
              <a:ext uri="{FF2B5EF4-FFF2-40B4-BE49-F238E27FC236}">
                <a16:creationId xmlns:a16="http://schemas.microsoft.com/office/drawing/2014/main" id="{F9A55C29-8DA0-4EA1-2867-BF74DE92ED2F}"/>
              </a:ext>
            </a:extLst>
          </p:cNvPr>
          <p:cNvSpPr txBox="1"/>
          <p:nvPr/>
        </p:nvSpPr>
        <p:spPr>
          <a:xfrm>
            <a:off x="548640" y="5925312"/>
            <a:ext cx="10972800" cy="161583"/>
          </a:xfrm>
          <a:prstGeom prst="rect">
            <a:avLst/>
          </a:prstGeom>
          <a:noFill/>
        </p:spPr>
        <p:txBody>
          <a:bodyPr vert="horz" wrap="square" lIns="0" tIns="0" rIns="0" bIns="0" rtlCol="0" anchor="t">
            <a:spAutoFit/>
          </a:bodyPr>
          <a:lstStyle/>
          <a:p>
            <a:r>
              <a:rPr lang="en-US" sz="1050" b="1">
                <a:solidFill>
                  <a:srgbClr val="1F3A5F"/>
                </a:solidFill>
                <a:latin typeface="Calibri" panose="020F0502020204030204" pitchFamily="34" charset="0"/>
              </a:rPr>
              <a:t>Ch. 1 position  ·  Ch. 2 colour  ·  Ch. 3 data-ink  ·  Ch. 4 annotation</a:t>
            </a:r>
            <a:endParaRPr lang="en-PK" sz="1050" b="1">
              <a:solidFill>
                <a:srgbClr val="1F3A5F"/>
              </a:solidFill>
              <a:latin typeface="Calibri" panose="020F0502020204030204" pitchFamily="34" charset="0"/>
            </a:endParaRPr>
          </a:p>
        </p:txBody>
      </p:sp>
      <p:sp>
        <p:nvSpPr>
          <p:cNvPr id="16" name="TextBox 15">
            <a:extLst>
              <a:ext uri="{FF2B5EF4-FFF2-40B4-BE49-F238E27FC236}">
                <a16:creationId xmlns:a16="http://schemas.microsoft.com/office/drawing/2014/main" id="{16E9BAA2-CEEA-1F6C-EABA-792A9522AF19}"/>
              </a:ext>
            </a:extLst>
          </p:cNvPr>
          <p:cNvSpPr txBox="1"/>
          <p:nvPr/>
        </p:nvSpPr>
        <p:spPr>
          <a:xfrm>
            <a:off x="502920" y="6528816"/>
            <a:ext cx="5486400" cy="138499"/>
          </a:xfrm>
          <a:prstGeom prst="rect">
            <a:avLst/>
          </a:prstGeom>
          <a:noFill/>
        </p:spPr>
        <p:txBody>
          <a:bodyPr vert="horz" wrap="square" lIns="0" tIns="0" rIns="0" bIns="0" rtlCol="0" anchor="t">
            <a:spAutoFit/>
          </a:bodyPr>
          <a:lstStyle/>
          <a:p>
            <a:r>
              <a:rPr lang="en-US" sz="900">
                <a:solidFill>
                  <a:srgbClr val="595959"/>
                </a:solidFill>
                <a:latin typeface="Calibri" panose="020F0502020204030204" pitchFamily="34" charset="0"/>
              </a:rPr>
              <a:t>FA24-BED-046  ·  ECO346 Assignment 1</a:t>
            </a:r>
            <a:endParaRPr lang="en-PK" sz="900">
              <a:solidFill>
                <a:srgbClr val="595959"/>
              </a:solidFill>
              <a:latin typeface="Calibri" panose="020F0502020204030204" pitchFamily="34" charset="0"/>
            </a:endParaRPr>
          </a:p>
        </p:txBody>
      </p:sp>
      <p:sp>
        <p:nvSpPr>
          <p:cNvPr id="17" name="TextBox 16">
            <a:extLst>
              <a:ext uri="{FF2B5EF4-FFF2-40B4-BE49-F238E27FC236}">
                <a16:creationId xmlns:a16="http://schemas.microsoft.com/office/drawing/2014/main" id="{DBC18145-28DA-950C-7943-D74010F5D401}"/>
              </a:ext>
            </a:extLst>
          </p:cNvPr>
          <p:cNvSpPr txBox="1"/>
          <p:nvPr/>
        </p:nvSpPr>
        <p:spPr>
          <a:xfrm>
            <a:off x="11247120" y="6528816"/>
            <a:ext cx="457200" cy="138499"/>
          </a:xfrm>
          <a:prstGeom prst="rect">
            <a:avLst/>
          </a:prstGeom>
          <a:noFill/>
        </p:spPr>
        <p:txBody>
          <a:bodyPr vert="horz" wrap="square" lIns="0" tIns="0" rIns="0" bIns="0" rtlCol="0" anchor="t">
            <a:spAutoFit/>
          </a:bodyPr>
          <a:lstStyle/>
          <a:p>
            <a:pPr algn="r"/>
            <a:r>
              <a:rPr lang="en-PK" sz="900">
                <a:solidFill>
                  <a:srgbClr val="595959"/>
                </a:solidFill>
                <a:latin typeface="Calibri" panose="020F0502020204030204" pitchFamily="34" charset="0"/>
              </a:rPr>
              <a:t>2</a:t>
            </a:r>
          </a:p>
        </p:txBody>
      </p:sp>
    </p:spTree>
    <p:extLst>
      <p:ext uri="{BB962C8B-B14F-4D97-AF65-F5344CB8AC3E}">
        <p14:creationId xmlns:p14="http://schemas.microsoft.com/office/powerpoint/2010/main" val="3276020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A5BFFF3-91D8-211C-2CA8-C2E6EB6957E4}"/>
              </a:ext>
            </a:extLst>
          </p:cNvPr>
          <p:cNvSpPr/>
          <p:nvPr/>
        </p:nvSpPr>
        <p:spPr>
          <a:xfrm>
            <a:off x="4746806" y="1161288"/>
            <a:ext cx="6892437" cy="4846320"/>
          </a:xfrm>
          <a:prstGeom prst="rect">
            <a:avLst/>
          </a:prstGeom>
          <a:solidFill>
            <a:srgbClr val="F5F7FA"/>
          </a:solidFill>
          <a:ln w="9525">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 name="Rectangle 1">
            <a:extLst>
              <a:ext uri="{FF2B5EF4-FFF2-40B4-BE49-F238E27FC236}">
                <a16:creationId xmlns:a16="http://schemas.microsoft.com/office/drawing/2014/main" id="{285338D0-5D3E-AD12-5C07-E9B8F5339FEF}"/>
              </a:ext>
            </a:extLst>
          </p:cNvPr>
          <p:cNvSpPr/>
          <p:nvPr/>
        </p:nvSpPr>
        <p:spPr>
          <a:xfrm>
            <a:off x="548640" y="320040"/>
            <a:ext cx="731520" cy="59436"/>
          </a:xfrm>
          <a:prstGeom prst="rect">
            <a:avLst/>
          </a:prstGeom>
          <a:solidFill>
            <a:srgbClr val="D55E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3" name="TextBox 2">
            <a:extLst>
              <a:ext uri="{FF2B5EF4-FFF2-40B4-BE49-F238E27FC236}">
                <a16:creationId xmlns:a16="http://schemas.microsoft.com/office/drawing/2014/main" id="{50475EC4-92B3-E108-1464-854D4EF22A6A}"/>
              </a:ext>
            </a:extLst>
          </p:cNvPr>
          <p:cNvSpPr txBox="1"/>
          <p:nvPr/>
        </p:nvSpPr>
        <p:spPr>
          <a:xfrm>
            <a:off x="548640" y="475488"/>
            <a:ext cx="11064240" cy="384721"/>
          </a:xfrm>
          <a:prstGeom prst="rect">
            <a:avLst/>
          </a:prstGeom>
          <a:noFill/>
        </p:spPr>
        <p:txBody>
          <a:bodyPr vert="horz" wrap="square" lIns="0" tIns="0" rIns="0" bIns="0" rtlCol="0" anchor="t">
            <a:spAutoFit/>
          </a:bodyPr>
          <a:lstStyle/>
          <a:p>
            <a:r>
              <a:rPr lang="en-US" sz="2500" b="1">
                <a:solidFill>
                  <a:srgbClr val="1F3A5F"/>
                </a:solidFill>
                <a:latin typeface="Calibri" panose="020F0502020204030204" pitchFamily="34" charset="0"/>
              </a:rPr>
              <a:t>Key finding: women's literacy trails men's at every age</a:t>
            </a:r>
            <a:endParaRPr lang="en-PK" sz="2500" b="1">
              <a:solidFill>
                <a:srgbClr val="1F3A5F"/>
              </a:solidFill>
              <a:latin typeface="Calibri" panose="020F0502020204030204" pitchFamily="34" charset="0"/>
            </a:endParaRPr>
          </a:p>
        </p:txBody>
      </p:sp>
      <p:sp>
        <p:nvSpPr>
          <p:cNvPr id="4" name="TextBox 3">
            <a:extLst>
              <a:ext uri="{FF2B5EF4-FFF2-40B4-BE49-F238E27FC236}">
                <a16:creationId xmlns:a16="http://schemas.microsoft.com/office/drawing/2014/main" id="{53FE02DC-5B05-C07A-60BE-8D344DB76D5E}"/>
              </a:ext>
            </a:extLst>
          </p:cNvPr>
          <p:cNvSpPr txBox="1"/>
          <p:nvPr/>
        </p:nvSpPr>
        <p:spPr>
          <a:xfrm>
            <a:off x="548640" y="941832"/>
            <a:ext cx="11064240" cy="192360"/>
          </a:xfrm>
          <a:prstGeom prst="rect">
            <a:avLst/>
          </a:prstGeom>
          <a:noFill/>
        </p:spPr>
        <p:txBody>
          <a:bodyPr vert="horz" wrap="square" lIns="0" tIns="0" rIns="0" bIns="0" rtlCol="0" anchor="t">
            <a:spAutoFit/>
          </a:bodyPr>
          <a:lstStyle/>
          <a:p>
            <a:r>
              <a:rPr lang="en-US" sz="1250">
                <a:solidFill>
                  <a:srgbClr val="595959"/>
                </a:solidFill>
                <a:latin typeface="Calibri" panose="020F0502020204030204" pitchFamily="34" charset="0"/>
              </a:rPr>
              <a:t>The gap is widest at ages 40-44, where it reaches 47.9 percentage points</a:t>
            </a:r>
            <a:endParaRPr lang="en-PK" sz="1250">
              <a:solidFill>
                <a:srgbClr val="595959"/>
              </a:solidFill>
              <a:latin typeface="Calibri" panose="020F0502020204030204" pitchFamily="34" charset="0"/>
            </a:endParaRPr>
          </a:p>
        </p:txBody>
      </p:sp>
      <p:sp>
        <p:nvSpPr>
          <p:cNvPr id="5" name="TextBox 4">
            <a:extLst>
              <a:ext uri="{FF2B5EF4-FFF2-40B4-BE49-F238E27FC236}">
                <a16:creationId xmlns:a16="http://schemas.microsoft.com/office/drawing/2014/main" id="{2BE61D69-3B60-65CD-9614-7AEE96FB1AFF}"/>
              </a:ext>
            </a:extLst>
          </p:cNvPr>
          <p:cNvSpPr txBox="1"/>
          <p:nvPr/>
        </p:nvSpPr>
        <p:spPr>
          <a:xfrm>
            <a:off x="548640" y="1261872"/>
            <a:ext cx="3474720" cy="892552"/>
          </a:xfrm>
          <a:prstGeom prst="rect">
            <a:avLst/>
          </a:prstGeom>
          <a:noFill/>
        </p:spPr>
        <p:txBody>
          <a:bodyPr vert="horz" wrap="square" lIns="0" tIns="0" rIns="0" bIns="0" rtlCol="0" anchor="t">
            <a:spAutoFit/>
          </a:bodyPr>
          <a:lstStyle/>
          <a:p>
            <a:r>
              <a:rPr lang="en-PK" sz="5800" b="1">
                <a:solidFill>
                  <a:srgbClr val="D55E00"/>
                </a:solidFill>
                <a:latin typeface="Calibri" panose="020F0502020204030204" pitchFamily="34" charset="0"/>
              </a:rPr>
              <a:t>47.9</a:t>
            </a:r>
          </a:p>
        </p:txBody>
      </p:sp>
      <p:sp>
        <p:nvSpPr>
          <p:cNvPr id="6" name="TextBox 5">
            <a:extLst>
              <a:ext uri="{FF2B5EF4-FFF2-40B4-BE49-F238E27FC236}">
                <a16:creationId xmlns:a16="http://schemas.microsoft.com/office/drawing/2014/main" id="{497AFEB7-96A3-87C4-87E3-AA82CB5992FF}"/>
              </a:ext>
            </a:extLst>
          </p:cNvPr>
          <p:cNvSpPr txBox="1"/>
          <p:nvPr/>
        </p:nvSpPr>
        <p:spPr>
          <a:xfrm>
            <a:off x="566928" y="2139696"/>
            <a:ext cx="3474720" cy="215444"/>
          </a:xfrm>
          <a:prstGeom prst="rect">
            <a:avLst/>
          </a:prstGeom>
          <a:noFill/>
        </p:spPr>
        <p:txBody>
          <a:bodyPr vert="horz" wrap="square" lIns="0" tIns="0" rIns="0" bIns="0" rtlCol="0" anchor="t">
            <a:spAutoFit/>
          </a:bodyPr>
          <a:lstStyle/>
          <a:p>
            <a:r>
              <a:rPr lang="en-US" sz="1400" b="1">
                <a:solidFill>
                  <a:srgbClr val="D55E00"/>
                </a:solidFill>
                <a:latin typeface="Calibri" panose="020F0502020204030204" pitchFamily="34" charset="0"/>
              </a:rPr>
              <a:t>percentage points</a:t>
            </a:r>
            <a:endParaRPr lang="en-PK" sz="1400" b="1">
              <a:solidFill>
                <a:srgbClr val="D55E00"/>
              </a:solidFill>
              <a:latin typeface="Calibri" panose="020F0502020204030204" pitchFamily="34" charset="0"/>
            </a:endParaRPr>
          </a:p>
        </p:txBody>
      </p:sp>
      <p:sp>
        <p:nvSpPr>
          <p:cNvPr id="7" name="TextBox 6">
            <a:extLst>
              <a:ext uri="{FF2B5EF4-FFF2-40B4-BE49-F238E27FC236}">
                <a16:creationId xmlns:a16="http://schemas.microsoft.com/office/drawing/2014/main" id="{B662DAA1-15DB-163C-0187-FE655BB59F33}"/>
              </a:ext>
            </a:extLst>
          </p:cNvPr>
          <p:cNvSpPr txBox="1"/>
          <p:nvPr/>
        </p:nvSpPr>
        <p:spPr>
          <a:xfrm>
            <a:off x="566928" y="2432304"/>
            <a:ext cx="3474720" cy="192360"/>
          </a:xfrm>
          <a:prstGeom prst="rect">
            <a:avLst/>
          </a:prstGeom>
          <a:noFill/>
        </p:spPr>
        <p:txBody>
          <a:bodyPr vert="horz" wrap="square" lIns="0" tIns="0" rIns="0" bIns="0" rtlCol="0" anchor="t">
            <a:spAutoFit/>
          </a:bodyPr>
          <a:lstStyle/>
          <a:p>
            <a:r>
              <a:rPr lang="en-US" sz="1250">
                <a:solidFill>
                  <a:srgbClr val="595959"/>
                </a:solidFill>
                <a:latin typeface="Calibri" panose="020F0502020204030204" pitchFamily="34" charset="0"/>
              </a:rPr>
              <a:t>gap at ages 40-44</a:t>
            </a:r>
            <a:endParaRPr lang="en-PK" sz="1250">
              <a:solidFill>
                <a:srgbClr val="595959"/>
              </a:solidFill>
              <a:latin typeface="Calibri" panose="020F0502020204030204" pitchFamily="34" charset="0"/>
            </a:endParaRPr>
          </a:p>
        </p:txBody>
      </p:sp>
      <p:sp>
        <p:nvSpPr>
          <p:cNvPr id="8" name="Rectangle 7">
            <a:extLst>
              <a:ext uri="{FF2B5EF4-FFF2-40B4-BE49-F238E27FC236}">
                <a16:creationId xmlns:a16="http://schemas.microsoft.com/office/drawing/2014/main" id="{B35E1C3F-3009-7B21-DDBD-CBBC2D14CA8D}"/>
              </a:ext>
            </a:extLst>
          </p:cNvPr>
          <p:cNvSpPr/>
          <p:nvPr/>
        </p:nvSpPr>
        <p:spPr>
          <a:xfrm>
            <a:off x="548640" y="2862072"/>
            <a:ext cx="3749040" cy="13716"/>
          </a:xfrm>
          <a:prstGeom prst="rect">
            <a:avLst/>
          </a:prstGeom>
          <a:solidFill>
            <a:srgbClr val="D9D9D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 name="TextBox 8">
            <a:extLst>
              <a:ext uri="{FF2B5EF4-FFF2-40B4-BE49-F238E27FC236}">
                <a16:creationId xmlns:a16="http://schemas.microsoft.com/office/drawing/2014/main" id="{04512DD9-96AD-6451-CE2E-30D963A28D42}"/>
              </a:ext>
            </a:extLst>
          </p:cNvPr>
          <p:cNvSpPr txBox="1"/>
          <p:nvPr/>
        </p:nvSpPr>
        <p:spPr>
          <a:xfrm>
            <a:off x="566928" y="3054096"/>
            <a:ext cx="3749040" cy="788421"/>
          </a:xfrm>
          <a:prstGeom prst="rect">
            <a:avLst/>
          </a:prstGeom>
          <a:noFill/>
        </p:spPr>
        <p:txBody>
          <a:bodyPr vert="horz" wrap="square" lIns="0" tIns="0" rIns="0" bIns="0" rtlCol="0" anchor="t">
            <a:spAutoFit/>
          </a:bodyPr>
          <a:lstStyle/>
          <a:p>
            <a:pPr>
              <a:spcAft>
                <a:spcPts val="800"/>
              </a:spcAft>
            </a:pPr>
            <a:r>
              <a:rPr lang="en-US" sz="1320">
                <a:solidFill>
                  <a:srgbClr val="262626"/>
                </a:solidFill>
                <a:latin typeface="Calibri" panose="020F0502020204030204" pitchFamily="34" charset="0"/>
              </a:rPr>
              <a:t>Ages 15-19: women 33.3%, men 63.8%</a:t>
            </a:r>
          </a:p>
          <a:p>
            <a:pPr>
              <a:spcAft>
                <a:spcPts val="800"/>
              </a:spcAft>
            </a:pPr>
            <a:r>
              <a:rPr lang="en-US" sz="1320">
                <a:solidFill>
                  <a:srgbClr val="262626"/>
                </a:solidFill>
                <a:latin typeface="Calibri" panose="020F0502020204030204" pitchFamily="34" charset="0"/>
              </a:rPr>
              <a:t>Ages 55-59: women 3.5%, men 39.7%</a:t>
            </a:r>
          </a:p>
          <a:p>
            <a:r>
              <a:rPr lang="en-US" sz="1150">
                <a:solidFill>
                  <a:srgbClr val="595959"/>
                </a:solidFill>
                <a:latin typeface="Calibri" panose="020F0502020204030204" pitchFamily="34" charset="0"/>
              </a:rPr>
              <a:t>No thin cells; every band has at least 59 persons per sex.</a:t>
            </a:r>
            <a:endParaRPr lang="en-PK" sz="1150">
              <a:solidFill>
                <a:srgbClr val="595959"/>
              </a:solidFill>
              <a:latin typeface="Calibri" panose="020F0502020204030204" pitchFamily="34" charset="0"/>
            </a:endParaRPr>
          </a:p>
        </p:txBody>
      </p:sp>
      <p:sp>
        <p:nvSpPr>
          <p:cNvPr id="10" name="TextBox 9">
            <a:extLst>
              <a:ext uri="{FF2B5EF4-FFF2-40B4-BE49-F238E27FC236}">
                <a16:creationId xmlns:a16="http://schemas.microsoft.com/office/drawing/2014/main" id="{B3373285-B050-4681-E4FB-186BACFB4429}"/>
              </a:ext>
            </a:extLst>
          </p:cNvPr>
          <p:cNvSpPr txBox="1"/>
          <p:nvPr/>
        </p:nvSpPr>
        <p:spPr>
          <a:xfrm>
            <a:off x="566928" y="4736592"/>
            <a:ext cx="3794760" cy="530915"/>
          </a:xfrm>
          <a:prstGeom prst="rect">
            <a:avLst/>
          </a:prstGeom>
          <a:noFill/>
        </p:spPr>
        <p:txBody>
          <a:bodyPr vert="horz" wrap="square" lIns="0" tIns="0" rIns="0" bIns="0" rtlCol="0" anchor="t">
            <a:spAutoFit/>
          </a:bodyPr>
          <a:lstStyle/>
          <a:p>
            <a:r>
              <a:rPr lang="en-US" sz="1150" i="1">
                <a:solidFill>
                  <a:srgbClr val="595959"/>
                </a:solidFill>
                <a:latin typeface="Calibri" panose="020F0502020204030204" pitchFamily="34" charset="0"/>
              </a:rPr>
              <a:t>Consistent with cohort effects in schooling: older women had far less schooling, and female schooling remains lower. The cross-section cannot separate age from cohort effects.</a:t>
            </a:r>
            <a:endParaRPr lang="en-PK" sz="1150" i="1">
              <a:solidFill>
                <a:srgbClr val="595959"/>
              </a:solidFill>
              <a:latin typeface="Calibri" panose="020F0502020204030204" pitchFamily="34" charset="0"/>
            </a:endParaRPr>
          </a:p>
        </p:txBody>
      </p:sp>
      <p:pic>
        <p:nvPicPr>
          <p:cNvPr id="12" name="Graphic 11">
            <a:extLst>
              <a:ext uri="{FF2B5EF4-FFF2-40B4-BE49-F238E27FC236}">
                <a16:creationId xmlns:a16="http://schemas.microsoft.com/office/drawing/2014/main" id="{89BA7991-A706-C918-5F9F-2DA68D6E1C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38246" y="1252728"/>
            <a:ext cx="6709556" cy="4663440"/>
          </a:xfrm>
          <a:prstGeom prst="rect">
            <a:avLst/>
          </a:prstGeom>
        </p:spPr>
      </p:pic>
      <p:sp>
        <p:nvSpPr>
          <p:cNvPr id="14" name="TextBox 13">
            <a:extLst>
              <a:ext uri="{FF2B5EF4-FFF2-40B4-BE49-F238E27FC236}">
                <a16:creationId xmlns:a16="http://schemas.microsoft.com/office/drawing/2014/main" id="{16036C71-A5F5-9C02-A7EB-1B4180DA2F4A}"/>
              </a:ext>
            </a:extLst>
          </p:cNvPr>
          <p:cNvSpPr txBox="1"/>
          <p:nvPr/>
        </p:nvSpPr>
        <p:spPr>
          <a:xfrm>
            <a:off x="502920" y="6528816"/>
            <a:ext cx="5486400" cy="138499"/>
          </a:xfrm>
          <a:prstGeom prst="rect">
            <a:avLst/>
          </a:prstGeom>
          <a:noFill/>
        </p:spPr>
        <p:txBody>
          <a:bodyPr vert="horz" wrap="square" lIns="0" tIns="0" rIns="0" bIns="0" rtlCol="0" anchor="t">
            <a:spAutoFit/>
          </a:bodyPr>
          <a:lstStyle/>
          <a:p>
            <a:r>
              <a:rPr lang="en-US" sz="900">
                <a:solidFill>
                  <a:srgbClr val="595959"/>
                </a:solidFill>
                <a:latin typeface="Calibri" panose="020F0502020204030204" pitchFamily="34" charset="0"/>
              </a:rPr>
              <a:t>FA24-BED-046  ·  ECO346 Assignment 1</a:t>
            </a:r>
            <a:endParaRPr lang="en-PK" sz="900">
              <a:solidFill>
                <a:srgbClr val="595959"/>
              </a:solidFill>
              <a:latin typeface="Calibri" panose="020F0502020204030204" pitchFamily="34" charset="0"/>
            </a:endParaRPr>
          </a:p>
        </p:txBody>
      </p:sp>
      <p:sp>
        <p:nvSpPr>
          <p:cNvPr id="15" name="TextBox 14">
            <a:extLst>
              <a:ext uri="{FF2B5EF4-FFF2-40B4-BE49-F238E27FC236}">
                <a16:creationId xmlns:a16="http://schemas.microsoft.com/office/drawing/2014/main" id="{BF39CADC-4A1B-FF54-17F1-BE301FC37B8D}"/>
              </a:ext>
            </a:extLst>
          </p:cNvPr>
          <p:cNvSpPr txBox="1"/>
          <p:nvPr/>
        </p:nvSpPr>
        <p:spPr>
          <a:xfrm>
            <a:off x="11247120" y="6528816"/>
            <a:ext cx="457200" cy="138499"/>
          </a:xfrm>
          <a:prstGeom prst="rect">
            <a:avLst/>
          </a:prstGeom>
          <a:noFill/>
        </p:spPr>
        <p:txBody>
          <a:bodyPr vert="horz" wrap="square" lIns="0" tIns="0" rIns="0" bIns="0" rtlCol="0" anchor="t">
            <a:spAutoFit/>
          </a:bodyPr>
          <a:lstStyle/>
          <a:p>
            <a:pPr algn="r"/>
            <a:r>
              <a:rPr lang="en-PK" sz="900">
                <a:solidFill>
                  <a:srgbClr val="595959"/>
                </a:solidFill>
                <a:latin typeface="Calibri" panose="020F0502020204030204" pitchFamily="34" charset="0"/>
              </a:rPr>
              <a:t>3</a:t>
            </a:r>
          </a:p>
        </p:txBody>
      </p:sp>
    </p:spTree>
    <p:extLst>
      <p:ext uri="{BB962C8B-B14F-4D97-AF65-F5344CB8AC3E}">
        <p14:creationId xmlns:p14="http://schemas.microsoft.com/office/powerpoint/2010/main" val="3542139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F5B806-76B1-BA3E-DDA8-005D2A7B3799}"/>
              </a:ext>
            </a:extLst>
          </p:cNvPr>
          <p:cNvSpPr/>
          <p:nvPr/>
        </p:nvSpPr>
        <p:spPr>
          <a:xfrm>
            <a:off x="468300" y="1188720"/>
            <a:ext cx="6826657" cy="4800600"/>
          </a:xfrm>
          <a:prstGeom prst="rect">
            <a:avLst/>
          </a:prstGeom>
          <a:solidFill>
            <a:srgbClr val="F5F7FA"/>
          </a:solidFill>
          <a:ln w="9525">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 name="Rectangle 1">
            <a:extLst>
              <a:ext uri="{FF2B5EF4-FFF2-40B4-BE49-F238E27FC236}">
                <a16:creationId xmlns:a16="http://schemas.microsoft.com/office/drawing/2014/main" id="{C24B8312-F3E5-DB55-5F68-BAF2DFBEC58B}"/>
              </a:ext>
            </a:extLst>
          </p:cNvPr>
          <p:cNvSpPr/>
          <p:nvPr/>
        </p:nvSpPr>
        <p:spPr>
          <a:xfrm>
            <a:off x="548640" y="320040"/>
            <a:ext cx="731520" cy="59436"/>
          </a:xfrm>
          <a:prstGeom prst="rect">
            <a:avLst/>
          </a:prstGeom>
          <a:solidFill>
            <a:srgbClr val="D55E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3" name="TextBox 2">
            <a:extLst>
              <a:ext uri="{FF2B5EF4-FFF2-40B4-BE49-F238E27FC236}">
                <a16:creationId xmlns:a16="http://schemas.microsoft.com/office/drawing/2014/main" id="{E8A7FEE7-47B2-8A1F-B6A0-3BEA245176E5}"/>
              </a:ext>
            </a:extLst>
          </p:cNvPr>
          <p:cNvSpPr txBox="1"/>
          <p:nvPr/>
        </p:nvSpPr>
        <p:spPr>
          <a:xfrm>
            <a:off x="548640" y="475488"/>
            <a:ext cx="11064240" cy="384721"/>
          </a:xfrm>
          <a:prstGeom prst="rect">
            <a:avLst/>
          </a:prstGeom>
          <a:noFill/>
        </p:spPr>
        <p:txBody>
          <a:bodyPr vert="horz" wrap="square" lIns="0" tIns="0" rIns="0" bIns="0" rtlCol="0" anchor="t">
            <a:spAutoFit/>
          </a:bodyPr>
          <a:lstStyle/>
          <a:p>
            <a:r>
              <a:rPr lang="en-US" sz="2500" b="1">
                <a:solidFill>
                  <a:srgbClr val="1F3A5F"/>
                </a:solidFill>
                <a:latin typeface="Calibri" panose="020F0502020204030204" pitchFamily="34" charset="0"/>
              </a:rPr>
              <a:t>A second language reproduces the same table and figure</a:t>
            </a:r>
            <a:endParaRPr lang="en-PK" sz="2500" b="1">
              <a:solidFill>
                <a:srgbClr val="1F3A5F"/>
              </a:solidFill>
              <a:latin typeface="Calibri" panose="020F0502020204030204" pitchFamily="34" charset="0"/>
            </a:endParaRPr>
          </a:p>
        </p:txBody>
      </p:sp>
      <p:sp>
        <p:nvSpPr>
          <p:cNvPr id="4" name="TextBox 3">
            <a:extLst>
              <a:ext uri="{FF2B5EF4-FFF2-40B4-BE49-F238E27FC236}">
                <a16:creationId xmlns:a16="http://schemas.microsoft.com/office/drawing/2014/main" id="{28D95F0E-9CF1-C0DD-B24A-2CD776AF93D3}"/>
              </a:ext>
            </a:extLst>
          </p:cNvPr>
          <p:cNvSpPr txBox="1"/>
          <p:nvPr/>
        </p:nvSpPr>
        <p:spPr>
          <a:xfrm>
            <a:off x="548640" y="941832"/>
            <a:ext cx="11064240" cy="192360"/>
          </a:xfrm>
          <a:prstGeom prst="rect">
            <a:avLst/>
          </a:prstGeom>
          <a:noFill/>
        </p:spPr>
        <p:txBody>
          <a:bodyPr vert="horz" wrap="square" lIns="0" tIns="0" rIns="0" bIns="0" rtlCol="0" anchor="t">
            <a:spAutoFit/>
          </a:bodyPr>
          <a:lstStyle/>
          <a:p>
            <a:r>
              <a:rPr lang="en-US" sz="1250">
                <a:solidFill>
                  <a:srgbClr val="595959"/>
                </a:solidFill>
                <a:latin typeface="Calibri" panose="020F0502020204030204" pitchFamily="34" charset="0"/>
              </a:rPr>
              <a:t>Question 5: Python re-estimates the band means independently from the same local CSVs</a:t>
            </a:r>
            <a:endParaRPr lang="en-PK" sz="1250">
              <a:solidFill>
                <a:srgbClr val="595959"/>
              </a:solidFill>
              <a:latin typeface="Calibri" panose="020F0502020204030204" pitchFamily="34" charset="0"/>
            </a:endParaRPr>
          </a:p>
        </p:txBody>
      </p:sp>
      <p:pic>
        <p:nvPicPr>
          <p:cNvPr id="6" name="Graphic 5">
            <a:extLst>
              <a:ext uri="{FF2B5EF4-FFF2-40B4-BE49-F238E27FC236}">
                <a16:creationId xmlns:a16="http://schemas.microsoft.com/office/drawing/2014/main" id="{88A877E6-E60C-1991-4706-44CCCB1C0D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9740" y="1280160"/>
            <a:ext cx="6643777" cy="4617720"/>
          </a:xfrm>
          <a:prstGeom prst="rect">
            <a:avLst/>
          </a:prstGeom>
        </p:spPr>
      </p:pic>
      <p:sp>
        <p:nvSpPr>
          <p:cNvPr id="8" name="TextBox 7">
            <a:extLst>
              <a:ext uri="{FF2B5EF4-FFF2-40B4-BE49-F238E27FC236}">
                <a16:creationId xmlns:a16="http://schemas.microsoft.com/office/drawing/2014/main" id="{6FDDB1E0-04B4-2674-9E24-58811351500A}"/>
              </a:ext>
            </a:extLst>
          </p:cNvPr>
          <p:cNvSpPr txBox="1"/>
          <p:nvPr/>
        </p:nvSpPr>
        <p:spPr>
          <a:xfrm>
            <a:off x="7516368" y="1298448"/>
            <a:ext cx="4114800" cy="200055"/>
          </a:xfrm>
          <a:prstGeom prst="rect">
            <a:avLst/>
          </a:prstGeom>
          <a:noFill/>
        </p:spPr>
        <p:txBody>
          <a:bodyPr vert="horz" wrap="square" lIns="0" tIns="0" rIns="0" bIns="0" rtlCol="0" anchor="t">
            <a:spAutoFit/>
          </a:bodyPr>
          <a:lstStyle/>
          <a:p>
            <a:r>
              <a:rPr lang="en-US" sz="1300" b="1">
                <a:solidFill>
                  <a:srgbClr val="1F3A5F"/>
                </a:solidFill>
                <a:latin typeface="Calibri" panose="020F0502020204030204" pitchFamily="34" charset="0"/>
              </a:rPr>
              <a:t>R  vs  Python</a:t>
            </a:r>
            <a:endParaRPr lang="en-PK" sz="1300" b="1">
              <a:solidFill>
                <a:srgbClr val="1F3A5F"/>
              </a:solidFill>
              <a:latin typeface="Calibri" panose="020F0502020204030204" pitchFamily="34" charset="0"/>
            </a:endParaRPr>
          </a:p>
        </p:txBody>
      </p:sp>
      <p:sp>
        <p:nvSpPr>
          <p:cNvPr id="9" name="TextBox 8">
            <a:extLst>
              <a:ext uri="{FF2B5EF4-FFF2-40B4-BE49-F238E27FC236}">
                <a16:creationId xmlns:a16="http://schemas.microsoft.com/office/drawing/2014/main" id="{5F80F15B-F15A-3D2C-F09C-EF3F8085DFE7}"/>
              </a:ext>
            </a:extLst>
          </p:cNvPr>
          <p:cNvSpPr txBox="1"/>
          <p:nvPr/>
        </p:nvSpPr>
        <p:spPr>
          <a:xfrm>
            <a:off x="7516368" y="1645920"/>
            <a:ext cx="4114800" cy="176972"/>
          </a:xfrm>
          <a:prstGeom prst="rect">
            <a:avLst/>
          </a:prstGeom>
          <a:noFill/>
        </p:spPr>
        <p:txBody>
          <a:bodyPr vert="horz" wrap="square" lIns="0" tIns="0" rIns="0" bIns="0" rtlCol="0" anchor="t">
            <a:spAutoFit/>
          </a:bodyPr>
          <a:lstStyle/>
          <a:p>
            <a:r>
              <a:rPr lang="en-US" sz="1150">
                <a:solidFill>
                  <a:srgbClr val="595959"/>
                </a:solidFill>
                <a:latin typeface="Calibri" panose="020F0502020204030204" pitchFamily="34" charset="0"/>
              </a:rPr>
              <a:t>Women aged 15-19</a:t>
            </a:r>
            <a:endParaRPr lang="en-PK" sz="1150">
              <a:solidFill>
                <a:srgbClr val="595959"/>
              </a:solidFill>
              <a:latin typeface="Calibri" panose="020F0502020204030204" pitchFamily="34" charset="0"/>
            </a:endParaRPr>
          </a:p>
        </p:txBody>
      </p:sp>
      <p:sp>
        <p:nvSpPr>
          <p:cNvPr id="10" name="TextBox 9">
            <a:extLst>
              <a:ext uri="{FF2B5EF4-FFF2-40B4-BE49-F238E27FC236}">
                <a16:creationId xmlns:a16="http://schemas.microsoft.com/office/drawing/2014/main" id="{CB2E48E0-611E-35A2-E4EF-8CE3CB42D676}"/>
              </a:ext>
            </a:extLst>
          </p:cNvPr>
          <p:cNvSpPr txBox="1"/>
          <p:nvPr/>
        </p:nvSpPr>
        <p:spPr>
          <a:xfrm>
            <a:off x="7516368" y="1883664"/>
            <a:ext cx="4114800" cy="400110"/>
          </a:xfrm>
          <a:prstGeom prst="rect">
            <a:avLst/>
          </a:prstGeom>
          <a:noFill/>
        </p:spPr>
        <p:txBody>
          <a:bodyPr vert="horz" wrap="square" lIns="0" tIns="0" rIns="0" bIns="0" rtlCol="0" anchor="t">
            <a:spAutoFit/>
          </a:bodyPr>
          <a:lstStyle/>
          <a:p>
            <a:r>
              <a:rPr lang="en-PK" sz="2600" b="1">
                <a:solidFill>
                  <a:srgbClr val="D55E00"/>
                </a:solidFill>
                <a:latin typeface="Calibri" panose="020F0502020204030204" pitchFamily="34" charset="0"/>
              </a:rPr>
              <a:t>33.3%  =  33.3%</a:t>
            </a:r>
          </a:p>
        </p:txBody>
      </p:sp>
      <p:sp>
        <p:nvSpPr>
          <p:cNvPr id="11" name="TextBox 10">
            <a:extLst>
              <a:ext uri="{FF2B5EF4-FFF2-40B4-BE49-F238E27FC236}">
                <a16:creationId xmlns:a16="http://schemas.microsoft.com/office/drawing/2014/main" id="{B8C5BB1F-5B07-50CB-0328-DFDFD1BA8A4C}"/>
              </a:ext>
            </a:extLst>
          </p:cNvPr>
          <p:cNvSpPr txBox="1"/>
          <p:nvPr/>
        </p:nvSpPr>
        <p:spPr>
          <a:xfrm>
            <a:off x="7516368" y="2468880"/>
            <a:ext cx="4114800" cy="192360"/>
          </a:xfrm>
          <a:prstGeom prst="rect">
            <a:avLst/>
          </a:prstGeom>
          <a:noFill/>
        </p:spPr>
        <p:txBody>
          <a:bodyPr vert="horz" wrap="square" lIns="0" tIns="0" rIns="0" bIns="0" rtlCol="0" anchor="t">
            <a:spAutoFit/>
          </a:bodyPr>
          <a:lstStyle/>
          <a:p>
            <a:r>
              <a:rPr lang="en-US" sz="1250">
                <a:solidFill>
                  <a:srgbClr val="262626"/>
                </a:solidFill>
                <a:latin typeface="Calibri" panose="020F0502020204030204" pitchFamily="34" charset="0"/>
              </a:rPr>
              <a:t>All 11 bands agree to one decimal</a:t>
            </a:r>
            <a:endParaRPr lang="en-PK" sz="1250">
              <a:solidFill>
                <a:srgbClr val="262626"/>
              </a:solidFill>
              <a:latin typeface="Calibri" panose="020F0502020204030204" pitchFamily="34" charset="0"/>
            </a:endParaRPr>
          </a:p>
        </p:txBody>
      </p:sp>
      <p:sp>
        <p:nvSpPr>
          <p:cNvPr id="12" name="TextBox 11">
            <a:extLst>
              <a:ext uri="{FF2B5EF4-FFF2-40B4-BE49-F238E27FC236}">
                <a16:creationId xmlns:a16="http://schemas.microsoft.com/office/drawing/2014/main" id="{0748E9FE-D3C2-B1F0-2574-6222953F42C0}"/>
              </a:ext>
            </a:extLst>
          </p:cNvPr>
          <p:cNvSpPr txBox="1"/>
          <p:nvPr/>
        </p:nvSpPr>
        <p:spPr>
          <a:xfrm>
            <a:off x="7516368" y="2761488"/>
            <a:ext cx="4114800" cy="161583"/>
          </a:xfrm>
          <a:prstGeom prst="rect">
            <a:avLst/>
          </a:prstGeom>
          <a:noFill/>
        </p:spPr>
        <p:txBody>
          <a:bodyPr vert="horz" wrap="square" lIns="0" tIns="0" rIns="0" bIns="0" rtlCol="0" anchor="t">
            <a:spAutoFit/>
          </a:bodyPr>
          <a:lstStyle/>
          <a:p>
            <a:r>
              <a:rPr lang="en-US" sz="1050">
                <a:solidFill>
                  <a:srgbClr val="595959"/>
                </a:solidFill>
                <a:latin typeface="Calibri" panose="020F0502020204030204" pitchFamily="34" charset="0"/>
              </a:rPr>
              <a:t>Maximum absolute difference: 0.0000000000</a:t>
            </a:r>
            <a:endParaRPr lang="en-PK" sz="1050">
              <a:solidFill>
                <a:srgbClr val="595959"/>
              </a:solidFill>
              <a:latin typeface="Calibri" panose="020F0502020204030204" pitchFamily="34" charset="0"/>
            </a:endParaRPr>
          </a:p>
        </p:txBody>
      </p:sp>
      <p:sp>
        <p:nvSpPr>
          <p:cNvPr id="13" name="Rectangle 12">
            <a:extLst>
              <a:ext uri="{FF2B5EF4-FFF2-40B4-BE49-F238E27FC236}">
                <a16:creationId xmlns:a16="http://schemas.microsoft.com/office/drawing/2014/main" id="{1AB0EE42-99AC-1B48-AF49-E2DBD97A1006}"/>
              </a:ext>
            </a:extLst>
          </p:cNvPr>
          <p:cNvSpPr/>
          <p:nvPr/>
        </p:nvSpPr>
        <p:spPr>
          <a:xfrm>
            <a:off x="7516368" y="3163824"/>
            <a:ext cx="3977640" cy="13716"/>
          </a:xfrm>
          <a:prstGeom prst="rect">
            <a:avLst/>
          </a:prstGeom>
          <a:solidFill>
            <a:srgbClr val="D9D9D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4" name="TextBox 13">
            <a:extLst>
              <a:ext uri="{FF2B5EF4-FFF2-40B4-BE49-F238E27FC236}">
                <a16:creationId xmlns:a16="http://schemas.microsoft.com/office/drawing/2014/main" id="{8D14BFA3-67DB-584F-7370-2E1E04BA619F}"/>
              </a:ext>
            </a:extLst>
          </p:cNvPr>
          <p:cNvSpPr txBox="1"/>
          <p:nvPr/>
        </p:nvSpPr>
        <p:spPr>
          <a:xfrm>
            <a:off x="7516368" y="3328416"/>
            <a:ext cx="4114800" cy="192360"/>
          </a:xfrm>
          <a:prstGeom prst="rect">
            <a:avLst/>
          </a:prstGeom>
          <a:noFill/>
        </p:spPr>
        <p:txBody>
          <a:bodyPr vert="horz" wrap="square" lIns="0" tIns="0" rIns="0" bIns="0" rtlCol="0" anchor="t">
            <a:spAutoFit/>
          </a:bodyPr>
          <a:lstStyle/>
          <a:p>
            <a:r>
              <a:rPr lang="en-US" sz="1250" b="1">
                <a:solidFill>
                  <a:srgbClr val="1F3A5F"/>
                </a:solidFill>
                <a:latin typeface="Calibri" panose="020F0502020204030204" pitchFamily="34" charset="0"/>
              </a:rPr>
              <a:t>Reproduce offline</a:t>
            </a:r>
            <a:endParaRPr lang="en-PK" sz="1250" b="1">
              <a:solidFill>
                <a:srgbClr val="1F3A5F"/>
              </a:solidFill>
              <a:latin typeface="Calibri" panose="020F0502020204030204" pitchFamily="34" charset="0"/>
            </a:endParaRPr>
          </a:p>
        </p:txBody>
      </p:sp>
      <p:sp>
        <p:nvSpPr>
          <p:cNvPr id="15" name="TextBox 14">
            <a:extLst>
              <a:ext uri="{FF2B5EF4-FFF2-40B4-BE49-F238E27FC236}">
                <a16:creationId xmlns:a16="http://schemas.microsoft.com/office/drawing/2014/main" id="{5C4D4ADC-73B9-C892-868E-C761514F0F70}"/>
              </a:ext>
            </a:extLst>
          </p:cNvPr>
          <p:cNvSpPr txBox="1"/>
          <p:nvPr/>
        </p:nvSpPr>
        <p:spPr>
          <a:xfrm>
            <a:off x="7516368" y="3621024"/>
            <a:ext cx="4114800" cy="176972"/>
          </a:xfrm>
          <a:prstGeom prst="rect">
            <a:avLst/>
          </a:prstGeom>
          <a:noFill/>
        </p:spPr>
        <p:txBody>
          <a:bodyPr vert="horz" wrap="square" lIns="0" tIns="0" rIns="0" bIns="0" rtlCol="0" anchor="t">
            <a:spAutoFit/>
          </a:bodyPr>
          <a:lstStyle/>
          <a:p>
            <a:r>
              <a:rPr lang="en-US" sz="1150">
                <a:solidFill>
                  <a:srgbClr val="262626"/>
                </a:solidFill>
                <a:latin typeface="Consolas" panose="020B0609020204030204" pitchFamily="49" charset="0"/>
              </a:rPr>
              <a:t>Rscript scripts/run_all.R</a:t>
            </a:r>
            <a:endParaRPr lang="en-PK" sz="1150">
              <a:solidFill>
                <a:srgbClr val="262626"/>
              </a:solidFill>
              <a:latin typeface="Consolas" panose="020B0609020204030204" pitchFamily="49" charset="0"/>
            </a:endParaRPr>
          </a:p>
        </p:txBody>
      </p:sp>
      <p:sp>
        <p:nvSpPr>
          <p:cNvPr id="16" name="TextBox 15">
            <a:extLst>
              <a:ext uri="{FF2B5EF4-FFF2-40B4-BE49-F238E27FC236}">
                <a16:creationId xmlns:a16="http://schemas.microsoft.com/office/drawing/2014/main" id="{CB7C9051-2DAB-0B87-264F-EEC476338184}"/>
              </a:ext>
            </a:extLst>
          </p:cNvPr>
          <p:cNvSpPr txBox="1"/>
          <p:nvPr/>
        </p:nvSpPr>
        <p:spPr>
          <a:xfrm>
            <a:off x="7516368" y="3913632"/>
            <a:ext cx="4114800" cy="161583"/>
          </a:xfrm>
          <a:prstGeom prst="rect">
            <a:avLst/>
          </a:prstGeom>
          <a:noFill/>
        </p:spPr>
        <p:txBody>
          <a:bodyPr vert="horz" wrap="square" lIns="0" tIns="0" rIns="0" bIns="0" rtlCol="0" anchor="t">
            <a:spAutoFit/>
          </a:bodyPr>
          <a:lstStyle/>
          <a:p>
            <a:r>
              <a:rPr lang="en-US" sz="1050">
                <a:solidFill>
                  <a:srgbClr val="595959"/>
                </a:solidFill>
                <a:latin typeface="Calibri" panose="020F0502020204030204" pitchFamily="34" charset="0"/>
              </a:rPr>
              <a:t>Reads data/*.csv only. No internet.</a:t>
            </a:r>
            <a:endParaRPr lang="en-PK" sz="1050">
              <a:solidFill>
                <a:srgbClr val="595959"/>
              </a:solidFill>
              <a:latin typeface="Calibri" panose="020F0502020204030204" pitchFamily="34" charset="0"/>
            </a:endParaRPr>
          </a:p>
        </p:txBody>
      </p:sp>
      <p:sp>
        <p:nvSpPr>
          <p:cNvPr id="17" name="TextBox 16">
            <a:extLst>
              <a:ext uri="{FF2B5EF4-FFF2-40B4-BE49-F238E27FC236}">
                <a16:creationId xmlns:a16="http://schemas.microsoft.com/office/drawing/2014/main" id="{2AB56694-479B-2744-C634-849787BFB19B}"/>
              </a:ext>
            </a:extLst>
          </p:cNvPr>
          <p:cNvSpPr txBox="1"/>
          <p:nvPr/>
        </p:nvSpPr>
        <p:spPr>
          <a:xfrm>
            <a:off x="7516368" y="4370832"/>
            <a:ext cx="4114800" cy="192360"/>
          </a:xfrm>
          <a:prstGeom prst="rect">
            <a:avLst/>
          </a:prstGeom>
          <a:noFill/>
        </p:spPr>
        <p:txBody>
          <a:bodyPr vert="horz" wrap="square" lIns="0" tIns="0" rIns="0" bIns="0" rtlCol="0" anchor="t">
            <a:spAutoFit/>
          </a:bodyPr>
          <a:lstStyle/>
          <a:p>
            <a:r>
              <a:rPr lang="en-US" sz="1250" b="1">
                <a:solidFill>
                  <a:srgbClr val="1F3A5F"/>
                </a:solidFill>
                <a:latin typeface="Calibri" panose="020F0502020204030204" pitchFamily="34" charset="0"/>
              </a:rPr>
              <a:t>Q2 in one line</a:t>
            </a:r>
            <a:endParaRPr lang="en-PK" sz="1250" b="1">
              <a:solidFill>
                <a:srgbClr val="1F3A5F"/>
              </a:solidFill>
              <a:latin typeface="Calibri" panose="020F0502020204030204" pitchFamily="34" charset="0"/>
            </a:endParaRPr>
          </a:p>
        </p:txBody>
      </p:sp>
      <p:sp>
        <p:nvSpPr>
          <p:cNvPr id="18" name="TextBox 17">
            <a:extLst>
              <a:ext uri="{FF2B5EF4-FFF2-40B4-BE49-F238E27FC236}">
                <a16:creationId xmlns:a16="http://schemas.microsoft.com/office/drawing/2014/main" id="{52AEE2E3-48AC-120E-95B0-9E6DAE3E6547}"/>
              </a:ext>
            </a:extLst>
          </p:cNvPr>
          <p:cNvSpPr txBox="1"/>
          <p:nvPr/>
        </p:nvSpPr>
        <p:spPr>
          <a:xfrm>
            <a:off x="7516368" y="4663440"/>
            <a:ext cx="4114800" cy="176972"/>
          </a:xfrm>
          <a:prstGeom prst="rect">
            <a:avLst/>
          </a:prstGeom>
          <a:noFill/>
        </p:spPr>
        <p:txBody>
          <a:bodyPr vert="horz" wrap="square" lIns="0" tIns="0" rIns="0" bIns="0" rtlCol="0" anchor="t">
            <a:spAutoFit/>
          </a:bodyPr>
          <a:lstStyle/>
          <a:p>
            <a:r>
              <a:rPr lang="en-US" sz="1150">
                <a:solidFill>
                  <a:srgbClr val="262626"/>
                </a:solidFill>
                <a:latin typeface="Calibri" panose="020F0502020204030204" pitchFamily="34" charset="0"/>
              </a:rPr>
              <a:t>Weighted median Rs 3,500; p90/p10 = 31.17.</a:t>
            </a:r>
            <a:endParaRPr lang="en-PK" sz="1150">
              <a:solidFill>
                <a:srgbClr val="262626"/>
              </a:solidFill>
              <a:latin typeface="Calibri" panose="020F0502020204030204" pitchFamily="34" charset="0"/>
            </a:endParaRPr>
          </a:p>
        </p:txBody>
      </p:sp>
      <p:sp>
        <p:nvSpPr>
          <p:cNvPr id="19" name="TextBox 18">
            <a:extLst>
              <a:ext uri="{FF2B5EF4-FFF2-40B4-BE49-F238E27FC236}">
                <a16:creationId xmlns:a16="http://schemas.microsoft.com/office/drawing/2014/main" id="{06F2DB36-FE68-D488-186B-DC0756F05DF3}"/>
              </a:ext>
            </a:extLst>
          </p:cNvPr>
          <p:cNvSpPr txBox="1"/>
          <p:nvPr/>
        </p:nvSpPr>
        <p:spPr>
          <a:xfrm>
            <a:off x="7516368" y="5358384"/>
            <a:ext cx="4114800" cy="161583"/>
          </a:xfrm>
          <a:prstGeom prst="rect">
            <a:avLst/>
          </a:prstGeom>
          <a:noFill/>
        </p:spPr>
        <p:txBody>
          <a:bodyPr vert="horz" wrap="square" lIns="0" tIns="0" rIns="0" bIns="0" rtlCol="0" anchor="t">
            <a:spAutoFit/>
          </a:bodyPr>
          <a:lstStyle/>
          <a:p>
            <a:r>
              <a:rPr lang="en-US" sz="1050" i="1">
                <a:solidFill>
                  <a:srgbClr val="595959"/>
                </a:solidFill>
                <a:latin typeface="Calibri" panose="020F0502020204030204" pitchFamily="34" charset="0"/>
              </a:rPr>
              <a:t>R and Python use the same filter, bands and weighted-mean formula.</a:t>
            </a:r>
            <a:endParaRPr lang="en-PK" sz="1050" i="1">
              <a:solidFill>
                <a:srgbClr val="595959"/>
              </a:solidFill>
              <a:latin typeface="Calibri" panose="020F0502020204030204" pitchFamily="34" charset="0"/>
            </a:endParaRPr>
          </a:p>
        </p:txBody>
      </p:sp>
      <p:sp>
        <p:nvSpPr>
          <p:cNvPr id="20" name="TextBox 19">
            <a:extLst>
              <a:ext uri="{FF2B5EF4-FFF2-40B4-BE49-F238E27FC236}">
                <a16:creationId xmlns:a16="http://schemas.microsoft.com/office/drawing/2014/main" id="{440FB0B1-488D-790B-E51F-2DDBA1432F2B}"/>
              </a:ext>
            </a:extLst>
          </p:cNvPr>
          <p:cNvSpPr txBox="1"/>
          <p:nvPr/>
        </p:nvSpPr>
        <p:spPr>
          <a:xfrm>
            <a:off x="502920" y="6528816"/>
            <a:ext cx="5486400" cy="138499"/>
          </a:xfrm>
          <a:prstGeom prst="rect">
            <a:avLst/>
          </a:prstGeom>
          <a:noFill/>
        </p:spPr>
        <p:txBody>
          <a:bodyPr vert="horz" wrap="square" lIns="0" tIns="0" rIns="0" bIns="0" rtlCol="0" anchor="t">
            <a:spAutoFit/>
          </a:bodyPr>
          <a:lstStyle/>
          <a:p>
            <a:r>
              <a:rPr lang="en-US" sz="900">
                <a:solidFill>
                  <a:srgbClr val="595959"/>
                </a:solidFill>
                <a:latin typeface="Calibri" panose="020F0502020204030204" pitchFamily="34" charset="0"/>
              </a:rPr>
              <a:t>FA24-BED-046  ·  ECO346 Assignment 1</a:t>
            </a:r>
            <a:endParaRPr lang="en-PK" sz="900">
              <a:solidFill>
                <a:srgbClr val="595959"/>
              </a:solidFill>
              <a:latin typeface="Calibri" panose="020F0502020204030204" pitchFamily="34" charset="0"/>
            </a:endParaRPr>
          </a:p>
        </p:txBody>
      </p:sp>
      <p:sp>
        <p:nvSpPr>
          <p:cNvPr id="21" name="TextBox 20">
            <a:extLst>
              <a:ext uri="{FF2B5EF4-FFF2-40B4-BE49-F238E27FC236}">
                <a16:creationId xmlns:a16="http://schemas.microsoft.com/office/drawing/2014/main" id="{F0308EEC-A508-DE6F-0B1E-2EF831C31C17}"/>
              </a:ext>
            </a:extLst>
          </p:cNvPr>
          <p:cNvSpPr txBox="1"/>
          <p:nvPr/>
        </p:nvSpPr>
        <p:spPr>
          <a:xfrm>
            <a:off x="11247120" y="6528816"/>
            <a:ext cx="457200" cy="138499"/>
          </a:xfrm>
          <a:prstGeom prst="rect">
            <a:avLst/>
          </a:prstGeom>
          <a:noFill/>
        </p:spPr>
        <p:txBody>
          <a:bodyPr vert="horz" wrap="square" lIns="0" tIns="0" rIns="0" bIns="0" rtlCol="0" anchor="t">
            <a:spAutoFit/>
          </a:bodyPr>
          <a:lstStyle/>
          <a:p>
            <a:pPr algn="r"/>
            <a:r>
              <a:rPr lang="en-PK" sz="900">
                <a:solidFill>
                  <a:srgbClr val="595959"/>
                </a:solidFill>
                <a:latin typeface="Calibri" panose="020F0502020204030204" pitchFamily="34" charset="0"/>
              </a:rPr>
              <a:t>4</a:t>
            </a:r>
          </a:p>
        </p:txBody>
      </p:sp>
    </p:spTree>
    <p:extLst>
      <p:ext uri="{BB962C8B-B14F-4D97-AF65-F5344CB8AC3E}">
        <p14:creationId xmlns:p14="http://schemas.microsoft.com/office/powerpoint/2010/main" val="33472632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770</Words>
  <Application>Microsoft Office PowerPoint</Application>
  <PresentationFormat>Custom</PresentationFormat>
  <Paragraphs>52</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Ibrahim Khan</dc:creator>
  <cp:lastModifiedBy>Ibrahim Khan</cp:lastModifiedBy>
  <cp:revision>1</cp:revision>
  <dcterms:created xsi:type="dcterms:W3CDTF">2026-10-26T11:43:53Z</dcterms:created>
  <dcterms:modified xsi:type="dcterms:W3CDTF">2026-10-26T11:43:56Z</dcterms:modified>
</cp:coreProperties>
</file>